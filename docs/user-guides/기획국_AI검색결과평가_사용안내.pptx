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ffbbdbf7cc4955" /><Relationship Type="http://schemas.openxmlformats.org/officeDocument/2006/relationships/extended-properties" Target="/docProps/app.xml" Id="Rd59297cd9b3f4342" /><Relationship Type="http://schemas.openxmlformats.org/officeDocument/2006/relationships/officeDocument" Target="/ppt/presentation.xml" Id="R72568371e33f49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400b2cc97b4487"/>
  </p:sldMasterIdLst>
  <p:notesMasterIdLst>
    <p:notesMasterId xmlns:r="http://schemas.openxmlformats.org/officeDocument/2006/relationships" r:id="R89d816eb6ab540a8"/>
  </p:notesMasterIdLst>
  <p:sldIdLst>
    <p:sldId xmlns:r="http://schemas.openxmlformats.org/officeDocument/2006/relationships" id="256" r:id="R276d46bc7b0340e2"/>
    <p:sldId xmlns:r="http://schemas.openxmlformats.org/officeDocument/2006/relationships" id="257" r:id="Rb50754c848384bb3"/>
    <p:sldId xmlns:r="http://schemas.openxmlformats.org/officeDocument/2006/relationships" id="258" r:id="R363df0a4bd6d4490"/>
    <p:sldId xmlns:r="http://schemas.openxmlformats.org/officeDocument/2006/relationships" id="259" r:id="Recfe3578b23346b1"/>
    <p:sldId xmlns:r="http://schemas.openxmlformats.org/officeDocument/2006/relationships" id="260" r:id="R4dc0425ffbf74adc"/>
    <p:sldId xmlns:r="http://schemas.openxmlformats.org/officeDocument/2006/relationships" id="261" r:id="Rf727f6e1d89c443a"/>
    <p:sldId xmlns:r="http://schemas.openxmlformats.org/officeDocument/2006/relationships" id="262" r:id="R45410665b3e0421c"/>
    <p:sldId xmlns:r="http://schemas.openxmlformats.org/officeDocument/2006/relationships" id="263" r:id="Ra7b21218f7f24c6e"/>
    <p:sldId xmlns:r="http://schemas.openxmlformats.org/officeDocument/2006/relationships" id="264" r:id="Rd1a127272525426a"/>
    <p:sldId xmlns:r="http://schemas.openxmlformats.org/officeDocument/2006/relationships" id="265" r:id="Rdbb7b33b06714c4f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83eb12f5614fbe" /><Relationship Type="http://schemas.openxmlformats.org/officeDocument/2006/relationships/slideMaster" Target="/ppt/slideMasters/slideMaster1.xml" Id="R46400b2cc97b4487" /><Relationship Type="http://schemas.openxmlformats.org/officeDocument/2006/relationships/notesMaster" Target="/ppt/notesMasters/notesMaster1.xml" Id="R89d816eb6ab540a8" /><Relationship Type="http://schemas.openxmlformats.org/officeDocument/2006/relationships/presProps" Target="/ppt/presProps.xml" Id="R1a7aa1603e174f1b" /><Relationship Type="http://schemas.openxmlformats.org/officeDocument/2006/relationships/tableStyles" Target="/ppt/tableStyles.xml" Id="R2081f25c6393463d" /><Relationship Type="http://schemas.openxmlformats.org/officeDocument/2006/relationships/slide" Target="/ppt/slides/slide1.xml" Id="R276d46bc7b0340e2" /><Relationship Type="http://schemas.openxmlformats.org/officeDocument/2006/relationships/slide" Target="/ppt/slides/slide2.xml" Id="Rb50754c848384bb3" /><Relationship Type="http://schemas.openxmlformats.org/officeDocument/2006/relationships/slide" Target="/ppt/slides/slide3.xml" Id="R363df0a4bd6d4490" /><Relationship Type="http://schemas.openxmlformats.org/officeDocument/2006/relationships/slide" Target="/ppt/slides/slide4.xml" Id="Recfe3578b23346b1" /><Relationship Type="http://schemas.openxmlformats.org/officeDocument/2006/relationships/slide" Target="/ppt/slides/slide5.xml" Id="R4dc0425ffbf74adc" /><Relationship Type="http://schemas.openxmlformats.org/officeDocument/2006/relationships/slide" Target="/ppt/slides/slide6.xml" Id="Rf727f6e1d89c443a" /><Relationship Type="http://schemas.openxmlformats.org/officeDocument/2006/relationships/slide" Target="/ppt/slides/slide7.xml" Id="R45410665b3e0421c" /><Relationship Type="http://schemas.openxmlformats.org/officeDocument/2006/relationships/slide" Target="/ppt/slides/slide8.xml" Id="Ra7b21218f7f24c6e" /><Relationship Type="http://schemas.openxmlformats.org/officeDocument/2006/relationships/slide" Target="/ppt/slides/slide9.xml" Id="Rd1a127272525426a" /><Relationship Type="http://schemas.openxmlformats.org/officeDocument/2006/relationships/slide" Target="/ppt/slides/slide10.xml" Id="Rdbb7b33b06714c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3a970ed71d41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29925a09fb49e4" /><Relationship Type="http://schemas.openxmlformats.org/officeDocument/2006/relationships/notesMaster" Target="/ppt/notesMasters/notesMaster1.xml" Id="R0ae49effce244c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b242e640bd4c20" /><Relationship Type="http://schemas.openxmlformats.org/officeDocument/2006/relationships/notesMaster" Target="/ppt/notesMasters/notesMaster1.xml" Id="R22ea0a9a03df43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7218103a394205" /><Relationship Type="http://schemas.openxmlformats.org/officeDocument/2006/relationships/notesMaster" Target="/ppt/notesMasters/notesMaster1.xml" Id="R0710b3e3ecf749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b550527b3d4b96" /><Relationship Type="http://schemas.openxmlformats.org/officeDocument/2006/relationships/notesMaster" Target="/ppt/notesMasters/notesMaster1.xml" Id="R803b8dcc0a764b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9529ef59d34e64" /><Relationship Type="http://schemas.openxmlformats.org/officeDocument/2006/relationships/notesMaster" Target="/ppt/notesMasters/notesMaster1.xml" Id="Re6af5af7559541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fac8666ff4482c" /><Relationship Type="http://schemas.openxmlformats.org/officeDocument/2006/relationships/notesMaster" Target="/ppt/notesMasters/notesMaster1.xml" Id="R4d067226a12b43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d7e69704fb4d5b" /><Relationship Type="http://schemas.openxmlformats.org/officeDocument/2006/relationships/notesMaster" Target="/ppt/notesMasters/notesMaster1.xml" Id="R7dfc8534d57d4e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279aa1e18d4a32" /><Relationship Type="http://schemas.openxmlformats.org/officeDocument/2006/relationships/notesMaster" Target="/ppt/notesMasters/notesMaster1.xml" Id="Rad3138c817f244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26df94521e4b2b" /><Relationship Type="http://schemas.openxmlformats.org/officeDocument/2006/relationships/notesMaster" Target="/ppt/notesMasters/notesMaster1.xml" Id="R63e65e6214b746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20850640664a9d" /><Relationship Type="http://schemas.openxmlformats.org/officeDocument/2006/relationships/notesMaster" Target="/ppt/notesMasters/notesMaster1.xml" Id="R356176f2d47848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대상 선정, AI 검색 결과 입력, 문헌 평가와 평가 종료를 설명합니다. 검색 실행은 담당자가 외부 AI에서 수행합니다.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 및 화면 기준</a:t>
            </a:r>
          </a:p>
          <a:p xmlns:a="http://schemas.openxmlformats.org/drawingml/2006/main">
            <a:r>
              <a:t>https://patent-examiner-mvp.sohnjun96.workers.dev/%EA%B8%B0%ED%9A%8D%EA%B5%AD</a:t>
            </a:r>
          </a:p>
          <a:p xmlns:a="http://schemas.openxmlformats.org/drawingml/2006/main">
            <a:r>
              <a:t>https://moip.go.kr/ko/introduce/dpetInfoMgmt.do?menuCd=SCD0201147&amp;parntMenuCd2=SCD0200434</a:t>
            </a:r>
          </a:p>
          <a:p xmlns:a="http://schemas.openxmlformats.org/drawingml/2006/main">
            <a:r>
              <a:t>앱 소스 확인: 2026-10-31. 기획국과 동일한 앱의 독립된 교육용 자료를 사용했습니다. 인물, 배정, 입력 결과와 점수는 사용법 설명용 예시입니다.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부서명을 사용하되 해당 출원의 실제 담당 부서나 심사관을 뜻하지 않습니다. 예시 출원은 공개된 한국 특허입니다. 출원번호와 공개번호를 구분합니다. 가구의 공개번호는 KR20220110642A, 의류처리장치의 공개번호는 KR20220014141A입니다.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 및 화면 기준</a:t>
            </a:r>
          </a:p>
          <a:p xmlns:a="http://schemas.openxmlformats.org/drawingml/2006/main">
            <a:r>
              <a:t>https://moip.go.kr/ko/introduce/dpetInfoMgmt.do?menuCd=SCD0201147&amp;parntMenuCd2=SCD0200434</a:t>
            </a:r>
          </a:p>
          <a:p xmlns:a="http://schemas.openxmlformats.org/drawingml/2006/main">
            <a:r>
              <a:t>https://patents.google.com/patent/KR20220110642A/ko</a:t>
            </a:r>
          </a:p>
          <a:p xmlns:a="http://schemas.openxmlformats.org/drawingml/2006/main">
            <a:r>
              <a:t>https://patents.google.com/patent/KR20220014141A/ko</a:t>
            </a:r>
          </a:p>
          <a:p xmlns:a="http://schemas.openxmlformats.org/drawingml/2006/main">
            <a:r>
              <a:t>앱 소스 확인: 2026-10-31. 기획국과 동일한 앱의 독립된 교육용 자료를 사용했습니다. 인물, 배정, 입력 결과와 점수는 사용법 설명용 예시입니다.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접속 주소는 https://patent-examiner-mvp.sohnjun96.workers.dev/기획국 입니다. AI 담당자도 심사관 선택 목록에서 본인을 선택합니다. 대상 선정, AI 입력, 평가는 관리자가 해당 단계를 진행으로 설정해야 가능합니다. 운영월은 사용자 선택 후 업무 화면에 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 및 화면 기준</a:t>
            </a:r>
          </a:p>
          <a:p xmlns:a="http://schemas.openxmlformats.org/drawingml/2006/main">
            <a:r>
              <a:t>https://patent-examiner-mvp.sohnjun96.workers.dev/%EA%B8%B0%ED%9A%8D%EA%B5%AD</a:t>
            </a:r>
          </a:p>
          <a:p xmlns:a="http://schemas.openxmlformats.org/drawingml/2006/main">
            <a:r>
              <a:t>https://github.com/sohnjun96/PatentExamTools/blob/feat/ai-evaluation-workspace/app/evaluation/workspace.tsx</a:t>
            </a:r>
          </a:p>
          <a:p xmlns:a="http://schemas.openxmlformats.org/drawingml/2006/main">
            <a:r>
              <a:t>앱 소스 확인: 2026-10-31. 기획국과 동일한 앱의 독립된 교육용 자료를 사용했습니다. 인물, 배정, 입력 결과와 점수는 사용법 설명용 예시입니다.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출원번호 입력 예시는 10 / 2021 / 0013789입니다. CPC 예시는 A47B 13/06입니다. 보고서 유무는 실제 보유 상태에 따라 선택합니다. 행의 추가는 목록을 자동 임시저장합니다. 선정 확정해야 AI 담당자에게 공개됩니다. 확정 후 선정 단계가 진행이면 제출 목록 수정과 수정 사항 저장을 사용할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 및 화면 기준</a:t>
            </a:r>
          </a:p>
          <a:p xmlns:a="http://schemas.openxmlformats.org/drawingml/2006/main">
            <a:r>
              <a:t>https://patents.google.com/patent/KR20220110642A/ko</a:t>
            </a:r>
          </a:p>
          <a:p xmlns:a="http://schemas.openxmlformats.org/drawingml/2006/main">
            <a:r>
              <a:t>https://github.com/sohnjun96/PatentExamTools/blob/feat/ai-evaluation-workspace/app/evaluation/workspace.tsx</a:t>
            </a:r>
          </a:p>
          <a:p xmlns:a="http://schemas.openxmlformats.org/drawingml/2006/main">
            <a:r>
              <a:t>앱 소스 확인: 2026-10-31. 기획국과 동일한 앱의 독립된 교육용 자료를 사용했습니다. 인물, 배정, 입력 결과와 점수는 사용법 설명용 예시입니다.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문서는 공개공보 PDF 받기, 월별 전체 문서는 전체 공개공보 ZIP 받기를 사용합니다. 이 사이트는 외부 AI의 검색 결과를 등록하고 평가하는 기능을 제공합니다. 외부 AI 검색은 별도로 수행합니다. 업무가 없으면 운영월, 심사관의 선정 확정, 담당 그룹과 AI 배정을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 및 화면 기준</a:t>
            </a:r>
          </a:p>
          <a:p xmlns:a="http://schemas.openxmlformats.org/drawingml/2006/main">
            <a:r>
              <a:t>https://github.com/sohnjun96/PatentExamTools/blob/feat/ai-evaluation-workspace/app/evaluation/workspace.tsx</a:t>
            </a:r>
          </a:p>
          <a:p xmlns:a="http://schemas.openxmlformats.org/drawingml/2006/main">
            <a:r>
              <a:t>앱 소스 확인: 2026-10-31. 기획국과 동일한 앱의 독립된 교육용 자료를 사용했습니다. 인물, 배정, 입력 결과와 점수는 사용법 설명용 예시입니다.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문헌의 특허번호는 KR20220014141A처럼 국가코드와 공보 기호를 포함합니다. 대상 출원의 출원번호 입력란과 구분합니다. 비특허문헌은 논문명·문서 제목이 필수이고 서지정보 입력에서 나머지 항목을 기록합니다. 문헌별 보고서는 마크다운과 표를 지원하며 최대 30,000자입니다. 입력 변경 후 약 0.8초 뒤 자동 저장합니다. 자동 저장됨을 확인합니다. 이 페이지의 번호는 입력 형식 설명용이며 대상 출원과의 관련성 분석을 의미하지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 및 화면 기준</a:t>
            </a:r>
          </a:p>
          <a:p xmlns:a="http://schemas.openxmlformats.org/drawingml/2006/main">
            <a:r>
              <a:t>https://patents.google.com/patent/KR20220014141A/ko</a:t>
            </a:r>
          </a:p>
          <a:p xmlns:a="http://schemas.openxmlformats.org/drawingml/2006/main">
            <a:r>
              <a:t>https://github.com/sohnjun96/PatentExamTools/blob/feat/ai-evaluation-workspace/app/evaluation/task/result-editor.tsx</a:t>
            </a:r>
          </a:p>
          <a:p xmlns:a="http://schemas.openxmlformats.org/drawingml/2006/main">
            <a:r>
              <a:t>앱 소스 확인: 2026-10-31. 기획국과 동일한 앱의 독립된 교육용 자료를 사용했습니다. 인물, 배정, 입력 결과와 점수는 사용법 설명용 예시입니다.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정확한 추가 버튼은 기존 목록에 N문헌 추가입니다. JSON을 붙여 넣기만 하면 아직 문헌 목록에 추가되지 않습니다. 자동 저장한 초안은 심사관에게 공개되지 않습니다. 입력 완료 후 공개 결과가 평가 대상이 됩니다. 수동 추가만 사용해도 입력 완료할 수 있습니다. 입력 단계가 진행일 때만 공개할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 및 화면 기준</a:t>
            </a:r>
          </a:p>
          <a:p xmlns:a="http://schemas.openxmlformats.org/drawingml/2006/main">
            <a:r>
              <a:t>https://github.com/sohnjun96/PatentExamTools/blob/feat/ai-evaluation-workspace/app/evaluation/task/result-editor.tsx</a:t>
            </a:r>
          </a:p>
          <a:p xmlns:a="http://schemas.openxmlformats.org/drawingml/2006/main">
            <a:r>
              <a:t>https://github.com/sohnjun96/PatentExamTools/blob/feat/ai-evaluation-workspace/app/evaluation/task/task-workspace.tsx</a:t>
            </a:r>
          </a:p>
          <a:p xmlns:a="http://schemas.openxmlformats.org/drawingml/2006/main">
            <a:r>
              <a:t>앱 소스 확인: 2026-10-31. 기획국과 동일한 앱의 독립된 교육용 자료를 사용했습니다. 인물, 배정, 입력 결과와 점수는 사용법 설명용 예시입니다.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점수는 문헌별 0~5점이며 3점은 평균적인 선행기술조사 보고서 수준입니다. 인용은 O, 미인용은 X를 선택합니다. 문헌별 피드백은 선택입니다. 제출된 AI 방식별 문헌을 모두 확인합니다. 평가를 임시저장할 수 있으나 평가 종료까지 해야 최종 완료입니다. 화면 점수는 교육용 예시입니다.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 및 화면 기준</a:t>
            </a:r>
          </a:p>
          <a:p xmlns:a="http://schemas.openxmlformats.org/drawingml/2006/main">
            <a:r>
              <a:t>https://github.com/sohnjun96/PatentExamTools/blob/feat/ai-evaluation-workspace/app/evaluation/task/evaluation-reader.tsx</a:t>
            </a:r>
          </a:p>
          <a:p xmlns:a="http://schemas.openxmlformats.org/drawingml/2006/main">
            <a:r>
              <a:t>앱 소스 확인: 2026-10-31. 기획국과 동일한 앱의 독립된 교육용 자료를 사용했습니다. 인물, 배정, 입력 결과와 점수는 사용법 설명용 예시입니다.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비교 대상이 4개 이상이면 상위 3개는 1~3위, 나머지는 순위 외를 선택합니다. 비교 대상이 하나면 비교 불가를 선택합니다. 비교하지 않을 방식은 평가 제외를 사용할 수 있습니다. 모든 문헌 점수와 인용 여부, 유효한 품질 순위를 입력한 후 평가 종료가 가능합니다. 전체 피드백은 선택입니다. 평가 단계가 진행이면 평가 수정으로 다시 편집할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 및 화면 기준</a:t>
            </a:r>
          </a:p>
          <a:p xmlns:a="http://schemas.openxmlformats.org/drawingml/2006/main">
            <a:r>
              <a:t>https://github.com/sohnjun96/PatentExamTools/blob/feat/ai-evaluation-workspace/app/lib/evaluation-guidance.ts</a:t>
            </a:r>
          </a:p>
          <a:p xmlns:a="http://schemas.openxmlformats.org/drawingml/2006/main">
            <a:r>
              <a:t>https://github.com/sohnjun96/PatentExamTools/blob/feat/ai-evaluation-workspace/app/evaluation/task/evaluation-reader.tsx</a:t>
            </a:r>
          </a:p>
          <a:p xmlns:a="http://schemas.openxmlformats.org/drawingml/2006/main">
            <a:r>
              <a:t>앱 소스 확인: 2026-10-31. 기획국과 동일한 앱의 독립된 교육용 자료를 사용했습니다. 인물, 배정, 입력 결과와 점수는 사용법 설명용 예시입니다.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대상 선정 단계의 진행 중에는 제출 목록 수정, 평가 단계의 진행 중에는 평가 수정을 사용합니다. 공개된 문헌·서지정보·URL·보고서를 변경하여 재공개하면 기존 평가는 재확인 대상이 될 수 있습니다. 단순한 순서 변경은 평가를 유지합니다. 저장 실패나 충돌 안내가 나오면 현재 입력을 보관하고 최신 자료 확인 절차를 따릅니다. 심사관 내 업무 자료 엑셀 저장, AI 담당자 담당 자료 엑셀 저장으로 자료를 보관할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 및 화면 기준</a:t>
            </a:r>
          </a:p>
          <a:p xmlns:a="http://schemas.openxmlformats.org/drawingml/2006/main">
            <a:r>
              <a:t>https://github.com/sohnjun96/PatentExamTools/blob/feat/ai-evaluation-workspace/docs/BUREAU_WORKSPACES.md</a:t>
            </a:r>
          </a:p>
          <a:p xmlns:a="http://schemas.openxmlformats.org/drawingml/2006/main">
            <a:r>
              <a:t>앱 소스 확인: 2026-10-31. 기획국과 동일한 앱의 독립된 교육용 자료를 사용했습니다. 인물, 배정, 입력 결과와 점수는 사용법 설명용 예시입니다.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5a6ae7387042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439d86b46c4b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c74bffe3d84a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e62597eb364f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3b1ad5432244b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a6a63b6aca48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4DFDE4-8826-44F6-B20F-49A17BC7E8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2914650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A1B351-8A6C-473C-9AD9-3D1F1FF4BD8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57400" y="4243388"/>
            <a:ext cx="960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010176F-78A3-485A-9C62-12CD56B7E7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3214688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CB86BD-FCA3-4B95-9986-C90733FF1A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7A3D299-8397-458F-A299-56D94D469A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121729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CD9490-6EBF-4F14-811A-424584FCB1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94D92E-30F6-498C-8120-226F06FBC6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3DAA85-2CA8-48EE-898B-DE3B694CB5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866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A055D0-410F-43E9-B8A9-0DD12AC0E5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6D2C8E-74C5-4274-BCA8-E89E9CBD6C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663006223d4287" /><Relationship Type="http://schemas.openxmlformats.org/officeDocument/2006/relationships/slideLayout" Target="/ppt/slideLayouts/slideLayout1.xml" Id="Re467de6bca63481b" /><Relationship Type="http://schemas.openxmlformats.org/officeDocument/2006/relationships/slideLayout" Target="/ppt/slideLayouts/slideLayout2.xml" Id="R43f1322271984f82" /><Relationship Type="http://schemas.openxmlformats.org/officeDocument/2006/relationships/slideLayout" Target="/ppt/slideLayouts/slideLayout3.xml" Id="R7e9ef11c6f404fa1" /><Relationship Type="http://schemas.openxmlformats.org/officeDocument/2006/relationships/slideLayout" Target="/ppt/slideLayouts/slideLayout4.xml" Id="R27034f8f961a4dd1" /><Relationship Type="http://schemas.openxmlformats.org/officeDocument/2006/relationships/slideLayout" Target="/ppt/slideLayouts/slideLayout5.xml" Id="R49af34f77c9f44c7" /><Relationship Type="http://schemas.openxmlformats.org/officeDocument/2006/relationships/slideLayout" Target="/ppt/slideLayouts/slideLayout6.xml" Id="R4895e17c643d4f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67de6bca63481b"/>
    <p:sldLayoutId xmlns:r="http://schemas.openxmlformats.org/officeDocument/2006/relationships" id="2147483650" r:id="R43f1322271984f82"/>
    <p:sldLayoutId xmlns:r="http://schemas.openxmlformats.org/officeDocument/2006/relationships" id="2147483651" r:id="R7e9ef11c6f404fa1"/>
    <p:sldLayoutId xmlns:r="http://schemas.openxmlformats.org/officeDocument/2006/relationships" id="2147483652" r:id="R27034f8f961a4dd1"/>
    <p:sldLayoutId xmlns:r="http://schemas.openxmlformats.org/officeDocument/2006/relationships" id="2147483653" r:id="R49af34f77c9f44c7"/>
    <p:sldLayoutId xmlns:r="http://schemas.openxmlformats.org/officeDocument/2006/relationships" id="2147483654" r:id="R4895e17c643d4f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a2d0ab01944863" /><Relationship Type="http://schemas.openxmlformats.org/officeDocument/2006/relationships/notesSlide" Target="/ppt/notesSlides/notesSlide1.xml" Id="R288eb780c12f48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22f98cb6cf4ef1" /><Relationship Type="http://schemas.openxmlformats.org/officeDocument/2006/relationships/notesSlide" Target="/ppt/notesSlides/notesSlide2.xml" Id="Re244cf09040c44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c3457fa5114550" /><Relationship Type="http://schemas.openxmlformats.org/officeDocument/2006/relationships/hyperlink" Target="https://patent-examiner-mvp.sohnjun96.workers.dev/%EA%B8%B0%ED%9A%8D%EA%B5%AD" TargetMode="External" Id="R103e84c5f9bd46a3" /><Relationship Type="http://schemas.openxmlformats.org/officeDocument/2006/relationships/notesSlide" Target="/ppt/notesSlides/notesSlide3.xml" Id="Rc63a5baf29834e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daae6134ac4849" /><Relationship Type="http://schemas.openxmlformats.org/officeDocument/2006/relationships/image" Target="/ppt/media/image.jpeg" Id="R6bbd27f0094a4a34" /><Relationship Type="http://schemas.openxmlformats.org/officeDocument/2006/relationships/notesSlide" Target="/ppt/notesSlides/notesSlide4.xml" Id="R68c1894354c040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b13dbec3b44726" /><Relationship Type="http://schemas.openxmlformats.org/officeDocument/2006/relationships/notesSlide" Target="/ppt/notesSlides/notesSlide5.xml" Id="Rb853dc95d53243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401fc6d6e44818" /><Relationship Type="http://schemas.openxmlformats.org/officeDocument/2006/relationships/notesSlide" Target="/ppt/notesSlides/notesSlide6.xml" Id="R2bfd2fd743fa4e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a6c00b53741e7" /><Relationship Type="http://schemas.openxmlformats.org/officeDocument/2006/relationships/notesSlide" Target="/ppt/notesSlides/notesSlide7.xml" Id="Rd4895c9e571743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c7c083c4f143e6" /><Relationship Type="http://schemas.openxmlformats.org/officeDocument/2006/relationships/notesSlide" Target="/ppt/notesSlides/notesSlide8.xml" Id="Rf6fc4eb1451c49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dc158c091340af" /><Relationship Type="http://schemas.openxmlformats.org/officeDocument/2006/relationships/notesSlide" Target="/ppt/notesSlides/notesSlide9.xml" Id="Rbf23a2f457454a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7c14bc8e4c4903" /><Relationship Type="http://schemas.openxmlformats.org/officeDocument/2006/relationships/notesSlide" Target="/ppt/notesSlides/notesSlide10.xml" Id="R9098823be80c41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F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8A3DDC5C-BF2C-407A-8C45-316B4774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B8D3F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25" b="1">
                <a:solidFill>
                  <a:srgbClr val="B8D3F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25" b="1">
                <a:solidFill>
                  <a:srgbClr val="B8D3F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25" b="1">
                <a:solidFill>
                  <a:srgbClr val="B8D3F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25" b="1">
                <a:solidFill>
                  <a:srgbClr val="B8D3F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25" b="1">
                <a:solidFill>
                  <a:srgbClr val="B8D3F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25" b="1">
                <a:solidFill>
                  <a:srgbClr val="B8D3F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25" b="1">
                <a:solidFill>
                  <a:srgbClr val="B8D3F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25" b="1">
                <a:solidFill>
                  <a:srgbClr val="B8D3F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25" b="1">
                <a:solidFill>
                  <a:srgbClr val="B8D3F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B8D3F5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B8D3F5"/>
                </a:solidFill>
                <a:latin typeface="Malgun Gothic"/>
                <a:ea typeface="Malgun Gothic"/>
                <a:cs typeface="Malgun Gothic"/>
              </a:rPr>
              <a:t>기획국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00B9EDF-94EA-434B-9FA3-E02D1C30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219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검색 결과 평가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 안내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C997C35E-74FD-46A4-BC38-2390F7E1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3872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심사관 · AI 담당자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C1D8D9E4-C7A5-4FC9-A8DD-CBB93EBE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1219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D6E3F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>
                <a:solidFill>
                  <a:srgbClr val="D6E3F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>
                <a:solidFill>
                  <a:srgbClr val="D6E3F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>
                <a:solidFill>
                  <a:srgbClr val="D6E3F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>
                <a:solidFill>
                  <a:srgbClr val="D6E3F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>
                <a:solidFill>
                  <a:srgbClr val="D6E3F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>
                <a:solidFill>
                  <a:srgbClr val="D6E3F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>
                <a:solidFill>
                  <a:srgbClr val="D6E3F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>
                <a:solidFill>
                  <a:srgbClr val="D6E3F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>
                <a:solidFill>
                  <a:srgbClr val="D6E3F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>
                <a:solidFill>
                  <a:srgbClr val="D6E3F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>
                <a:solidFill>
                  <a:srgbClr val="D6E3F1"/>
                </a:solidFill>
                <a:latin typeface="Malgun Gothic"/>
                <a:ea typeface="Malgun Gothic"/>
                <a:cs typeface="Malgun Gothic"/>
              </a:rPr>
              <a:t>실제 부서명과 공개 출원번호를 사용한 교육용 예시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A8EABFA-9762-48B1-9C8D-B76C4C96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484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B8D3F5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>
                <a:solidFill>
                  <a:srgbClr val="B8D3F5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>
                <a:solidFill>
                  <a:srgbClr val="B8D3F5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>
                <a:solidFill>
                  <a:srgbClr val="B8D3F5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>
                <a:solidFill>
                  <a:srgbClr val="B8D3F5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>
                <a:solidFill>
                  <a:srgbClr val="B8D3F5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>
                <a:solidFill>
                  <a:srgbClr val="B8D3F5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>
                <a:solidFill>
                  <a:srgbClr val="B8D3F5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>
                <a:solidFill>
                  <a:srgbClr val="B8D3F5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>
                <a:solidFill>
                  <a:srgbClr val="B8D3F5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00">
                <a:solidFill>
                  <a:srgbClr val="B8D3F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B8D3F5"/>
                </a:solidFill>
                <a:latin typeface="Malgun Gothic"/>
                <a:ea typeface="Malgun Gothic"/>
                <a:cs typeface="Malgun Gothic"/>
              </a:rPr>
              <a:t>2026. 10. 31.</a:t>
            </a:r>
          </a:p>
        </p:txBody>
      </p:sp>
    </p:spTree>
    <p:extLst>
      <p:ext uri="{BB962C8B-B14F-4D97-AF65-F5344CB8AC3E}">
        <p14:creationId xmlns:p14="http://schemas.microsoft.com/office/powerpoint/2010/main" val="18114319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C776A79D-79C2-4343-94D4-F2C75616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2573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rPr>
              <a:t>안내에 사용하는 예시</a:t>
            </a:r>
          </a:p>
        </p:txBody>
      </p:sp>
      <p:sp>
        <p:nvSpPr>
          <p:cNvPr id="2" name="text-7">
            <a:extLst xmlns:a="http://schemas.openxmlformats.org/drawingml/2006/main">
              <a:ext uri="{FF2B5EF4-FFF2-40B4-BE49-F238E27FC236}">
                <a16:creationId xmlns:a16="http://schemas.microsoft.com/office/drawing/2014/main" id="{5E7FA661-6E1F-4577-A699-A7791E3D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8662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rPr>
              <a:t>기획국 사용 안내 · 교육용 예시</a:t>
            </a:r>
          </a:p>
        </p:txBody>
      </p:sp>
      <p:sp>
        <p:nvSpPr>
          <p:cNvPr id="3" name="text-8">
            <a:extLst xmlns:a="http://schemas.openxmlformats.org/drawingml/2006/main">
              <a:ext uri="{FF2B5EF4-FFF2-40B4-BE49-F238E27FC236}">
                <a16:creationId xmlns:a16="http://schemas.microsoft.com/office/drawing/2014/main" id="{17D61D7A-BCC9-4E7C-9AEB-E162968F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24852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E9ECF-CA89-4229-BF71-9D9EF73B4EFA}"/>
              </a:ext>
            </a:extLst>
          </p:cNvPr>
          <p:cNvGraphicFramePr/>
          <p:nvPr/>
        </p:nvGraphicFramePr>
        <p:xfrm>
          <a:off xmlns:a="http://schemas.openxmlformats.org/drawingml/2006/main" x="571500" y="1400175"/>
          <a:ext xmlns:a="http://schemas.openxmlformats.org/drawingml/2006/main" cx="125730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3333750"/>
                <a:gridCol w="4381500"/>
              </a:tblGrid>
              <a:tr h="6381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심사부서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T w="9525">
                      <a:solidFill>
                        <a:srgbClr val="CFD9E4"/>
                      </a:solidFill>
                      <a:prstDash val="solid"/>
                    </a:lnT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132F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T w="9525">
                      <a:solidFill>
                        <a:srgbClr val="CFD9E4"/>
                      </a:solidFill>
                      <a:prstDash val="solid"/>
                    </a:lnT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132F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T w="9525">
                      <a:solidFill>
                        <a:srgbClr val="CFD9E4"/>
                      </a:solidFill>
                      <a:prstDash val="solid"/>
                    </a:lnT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132F50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생활용품심사과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김민준(가명)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심사관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생활용품심사과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이서연(가명)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담당자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가전제품심사과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박지훈(가명)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심사관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9">
            <a:extLst xmlns:a="http://schemas.openxmlformats.org/drawingml/2006/main">
              <a:ext uri="{FF2B5EF4-FFF2-40B4-BE49-F238E27FC236}">
                <a16:creationId xmlns:a16="http://schemas.microsoft.com/office/drawing/2014/main" id="{FE22AFBD-796D-4AAA-9AA0-E3C522A4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1257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rPr>
              <a:t>공개된 한국 출원번호</a:t>
            </a:r>
          </a:p>
        </p:txBody>
      </p:sp>
      <p:sp>
        <p:nvSpPr>
          <p:cNvPr id="6" name="text-10">
            <a:extLst xmlns:a="http://schemas.openxmlformats.org/drawingml/2006/main">
              <a:ext uri="{FF2B5EF4-FFF2-40B4-BE49-F238E27FC236}">
                <a16:creationId xmlns:a16="http://schemas.microsoft.com/office/drawing/2014/main" id="{C38184C5-00B3-40B4-B9AA-38CEADC1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81575"/>
            <a:ext cx="1257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10-2021-0013789   알루미늄 조립식 가구</a:t>
            </a:r>
          </a:p>
          <a:p xmlns:a="http://schemas.openxmlformats.org/drawingml/2006/main">
            <a: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10-2020-0093844   의류처리장치</a:t>
            </a:r>
          </a:p>
        </p:txBody>
      </p:sp>
      <p:sp>
        <p:nvSpPr>
          <p:cNvPr id="7" name="text-11">
            <a:extLst xmlns:a="http://schemas.openxmlformats.org/drawingml/2006/main">
              <a:ext uri="{FF2B5EF4-FFF2-40B4-BE49-F238E27FC236}">
                <a16:creationId xmlns:a16="http://schemas.microsoft.com/office/drawing/2014/main" id="{8ABFF983-975E-43E3-B833-EC950214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1257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rPr>
              <a:t>인물·담당 배정·입력 결과·평가는 예시입니다.</a:t>
            </a:r>
          </a:p>
        </p:txBody>
      </p:sp>
    </p:spTree>
    <p:extLst>
      <p:ext uri="{BB962C8B-B14F-4D97-AF65-F5344CB8AC3E}">
        <p14:creationId xmlns:p14="http://schemas.microsoft.com/office/powerpoint/2010/main" val="1859377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2">
            <a:extLst xmlns:a="http://schemas.openxmlformats.org/drawingml/2006/main">
              <a:ext uri="{FF2B5EF4-FFF2-40B4-BE49-F238E27FC236}">
                <a16:creationId xmlns:a16="http://schemas.microsoft.com/office/drawing/2014/main" id="{1F487D9A-5902-4CE3-8EB5-D8B4C093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2573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rPr>
              <a:t>사용자 선택과 운영월</a:t>
            </a:r>
          </a:p>
        </p:txBody>
      </p:sp>
      <p:sp>
        <p:nvSpPr>
          <p:cNvPr id="2" name="text-13">
            <a:extLst xmlns:a="http://schemas.openxmlformats.org/drawingml/2006/main">
              <a:ext uri="{FF2B5EF4-FFF2-40B4-BE49-F238E27FC236}">
                <a16:creationId xmlns:a16="http://schemas.microsoft.com/office/drawing/2014/main" id="{8B598F54-5806-4DDD-ADDB-405B9B9F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8662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rPr>
              <a:t>기획국 사용 안내 · 교육용 예시</a:t>
            </a:r>
          </a:p>
        </p:txBody>
      </p:sp>
      <p:sp>
        <p:nvSpPr>
          <p:cNvPr id="3" name="text-14">
            <a:extLst xmlns:a="http://schemas.openxmlformats.org/drawingml/2006/main">
              <a:ext uri="{FF2B5EF4-FFF2-40B4-BE49-F238E27FC236}">
                <a16:creationId xmlns:a16="http://schemas.microsoft.com/office/drawing/2014/main" id="{D8F48F92-AAAD-4CF3-B86B-CA4F35AA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24852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-15">
            <a:extLst xmlns:a="http://schemas.openxmlformats.org/drawingml/2006/main">
              <a:ext uri="{FF2B5EF4-FFF2-40B4-BE49-F238E27FC236}">
                <a16:creationId xmlns:a16="http://schemas.microsoft.com/office/drawing/2014/main" id="{509AFAED-567F-487D-A3BC-95BD2A25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2573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rPr>
              <a:t>기획국 주소</a:t>
            </a:r>
          </a:p>
        </p:txBody>
      </p:sp>
      <p:sp>
        <p:nvSpPr>
          <p:cNvPr id="5" name="text-16">
            <a:extLst xmlns:a="http://schemas.openxmlformats.org/drawingml/2006/main">
              <a:ext uri="{FF2B5EF4-FFF2-40B4-BE49-F238E27FC236}">
                <a16:creationId xmlns:a16="http://schemas.microsoft.com/office/drawing/2014/main" id="{7A26236C-9D24-4AA9-BE19-802F0784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1257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>
                <a:solidFill>
                  <a:srgbClr val="165CB8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103e84c5f9bd46a3"/>
              </a:rPr>
              <a:t>https://patent-examiner-mvp.sohnjun96.workers.dev/기획국</a:t>
            </a:r>
          </a:p>
        </p:txBody>
      </p:sp>
      <p:sp>
        <p:nvSpPr>
          <p:cNvPr id="6" name="text-17">
            <a:extLst xmlns:a="http://schemas.openxmlformats.org/drawingml/2006/main">
              <a:ext uri="{FF2B5EF4-FFF2-40B4-BE49-F238E27FC236}">
                <a16:creationId xmlns:a16="http://schemas.microsoft.com/office/drawing/2014/main" id="{11323BEC-1258-4B00-8238-72B5D53A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125730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1. 심사관 선택에서 본인의 심사과와 이름을 선택합니다.</a:t>
            </a:r>
          </a:p>
          <a:p xmlns:a="http://schemas.openxmlformats.org/drawingml/2006/main">
            <a:pPr>
              <a:def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2. 업무 화면에서 운영월을 확인합니다. 예시는 2026년 11월입니다.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C01C4-92E3-47B2-AADF-A4CBC2929B19}"/>
              </a:ext>
            </a:extLst>
          </p:cNvPr>
          <p:cNvGraphicFramePr/>
          <p:nvPr/>
        </p:nvGraphicFramePr>
        <p:xfrm>
          <a:off xmlns:a="http://schemas.openxmlformats.org/drawingml/2006/main" x="571500" y="4305300"/>
          <a:ext xmlns:a="http://schemas.openxmlformats.org/drawingml/2006/main" cx="12573000" cy="2390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3429000"/>
                <a:gridCol w="5048250"/>
              </a:tblGrid>
              <a:tr h="59769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T w="9525">
                      <a:solidFill>
                        <a:srgbClr val="CFD9E4"/>
                      </a:solidFill>
                      <a:prstDash val="solid"/>
                    </a:lnT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132F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진행하는 사람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T w="9525">
                      <a:solidFill>
                        <a:srgbClr val="CFD9E4"/>
                      </a:solidFill>
                      <a:prstDash val="solid"/>
                    </a:lnT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132F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메뉴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T w="9525">
                      <a:solidFill>
                        <a:srgbClr val="CFD9E4"/>
                      </a:solidFill>
                      <a:prstDash val="solid"/>
                    </a:lnT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132F50"/>
                    </a:solidFill>
                  </a:tcPr>
                </a:tc>
              </a:tr>
              <a:tr h="59769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건 선정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심사관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심사 업무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769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검색 결과 입력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담당자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담당 업무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9769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문헌 평가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심사관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심사 업무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18">
            <a:extLst xmlns:a="http://schemas.openxmlformats.org/drawingml/2006/main">
              <a:ext uri="{FF2B5EF4-FFF2-40B4-BE49-F238E27FC236}">
                <a16:creationId xmlns:a16="http://schemas.microsoft.com/office/drawing/2014/main" id="{A81B4E8F-A941-48AE-A76D-36039DE3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00850"/>
            <a:ext cx="1257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rPr>
              <a:t>관리자가 해당 단계를 진행으로 설정해야 입력할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9000013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9">
            <a:extLst xmlns:a="http://schemas.openxmlformats.org/drawingml/2006/main">
              <a:ext uri="{FF2B5EF4-FFF2-40B4-BE49-F238E27FC236}">
                <a16:creationId xmlns:a16="http://schemas.microsoft.com/office/drawing/2014/main" id="{640AF73B-0B7F-4EC8-B553-63B23437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2573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rPr>
              <a:t>심사관의 대상 선정</a:t>
            </a:r>
          </a:p>
        </p:txBody>
      </p:sp>
      <p:sp>
        <p:nvSpPr>
          <p:cNvPr id="2" name="text-20">
            <a:extLst xmlns:a="http://schemas.openxmlformats.org/drawingml/2006/main">
              <a:ext uri="{FF2B5EF4-FFF2-40B4-BE49-F238E27FC236}">
                <a16:creationId xmlns:a16="http://schemas.microsoft.com/office/drawing/2014/main" id="{6E86EED9-EB74-4182-A351-36BE42B4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8662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rPr>
              <a:t>기획국 사용 안내 · 교육용 예시</a:t>
            </a:r>
          </a:p>
        </p:txBody>
      </p:sp>
      <p:sp>
        <p:nvSpPr>
          <p:cNvPr id="3" name="text-21">
            <a:extLst xmlns:a="http://schemas.openxmlformats.org/drawingml/2006/main">
              <a:ext uri="{FF2B5EF4-FFF2-40B4-BE49-F238E27FC236}">
                <a16:creationId xmlns:a16="http://schemas.microsoft.com/office/drawing/2014/main" id="{9C35ED29-C0C9-45F9-9503-4C763737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24852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-22">
            <a:extLst xmlns:a="http://schemas.openxmlformats.org/drawingml/2006/main">
              <a:ext uri="{FF2B5EF4-FFF2-40B4-BE49-F238E27FC236}">
                <a16:creationId xmlns:a16="http://schemas.microsoft.com/office/drawing/2014/main" id="{D311A935-E45A-4DD5-8ECF-EB23BA24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text-23">
            <a:extLst xmlns:a="http://schemas.openxmlformats.org/drawingml/2006/main">
              <a:ext uri="{FF2B5EF4-FFF2-40B4-BE49-F238E27FC236}">
                <a16:creationId xmlns:a16="http://schemas.microsoft.com/office/drawing/2014/main" id="{7A88E808-90C3-43EA-A8C0-0735A828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33500"/>
            <a:ext cx="351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내 심사 업무에서</a:t>
            </a:r>
          </a:p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출원 추가를 누릅니다.</a:t>
            </a:r>
          </a:p>
        </p:txBody>
      </p:sp>
      <p:sp>
        <p:nvSpPr>
          <p:cNvPr id="6" name="text-24">
            <a:extLst xmlns:a="http://schemas.openxmlformats.org/drawingml/2006/main">
              <a:ext uri="{FF2B5EF4-FFF2-40B4-BE49-F238E27FC236}">
                <a16:creationId xmlns:a16="http://schemas.microsoft.com/office/drawing/2014/main" id="{F58E5A85-5BD6-42F7-A726-0828D9B3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13525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text-25">
            <a:extLst xmlns:a="http://schemas.openxmlformats.org/drawingml/2006/main">
              <a:ext uri="{FF2B5EF4-FFF2-40B4-BE49-F238E27FC236}">
                <a16:creationId xmlns:a16="http://schemas.microsoft.com/office/drawing/2014/main" id="{2BFD0099-5A09-42B0-9714-4A9D68B7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350" y="1333500"/>
            <a:ext cx="351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출원번호·CPC를 입력하고</a:t>
            </a:r>
          </a:p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보고서 있음 또는 없음을 선택합니다.</a:t>
            </a:r>
          </a:p>
        </p:txBody>
      </p:sp>
      <p:sp>
        <p:nvSpPr>
          <p:cNvPr id="8" name="text-26">
            <a:extLst xmlns:a="http://schemas.openxmlformats.org/drawingml/2006/main">
              <a:ext uri="{FF2B5EF4-FFF2-40B4-BE49-F238E27FC236}">
                <a16:creationId xmlns:a16="http://schemas.microsoft.com/office/drawing/2014/main" id="{3A3D95E9-BFDB-4A5E-BF67-23DE5D52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00" y="13525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text-27">
            <a:extLst xmlns:a="http://schemas.openxmlformats.org/drawingml/2006/main">
              <a:ext uri="{FF2B5EF4-FFF2-40B4-BE49-F238E27FC236}">
                <a16:creationId xmlns:a16="http://schemas.microsoft.com/office/drawing/2014/main" id="{3F59EEDE-52A0-4F1C-B929-1138BF9A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1333500"/>
            <a:ext cx="351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행의 추가로 저장한 뒤</a:t>
            </a:r>
          </a:p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선정 확정을 누릅니다.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EEF40-76AD-4748-8E49-D86E21AB81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d27f0094a4a34"/>
          <a:srcRect xmlns:a="http://schemas.openxmlformats.org/drawingml/2006/main" l="19000" t="25200" r="15500" b="32000"/>
          <a:stretch xmlns:a="http://schemas.openxmlformats.org/drawingml/2006/main"/>
        </p:blipFill>
        <p:spPr>
          <a:xfrm xmlns:a="http://schemas.openxmlformats.org/drawingml/2006/main">
            <a:off x="571500" y="2667000"/>
            <a:ext cx="12573000" cy="3667125"/>
          </a:xfrm>
          <a:prstGeom xmlns:a="http://schemas.openxmlformats.org/drawingml/2006/main" prst="rect">
            <a:avLst/>
          </a:prstGeom>
        </p:spPr>
      </p:pic>
      <p:sp>
        <p:nvSpPr>
          <p:cNvPr id="11" name="text-28">
            <a:extLst xmlns:a="http://schemas.openxmlformats.org/drawingml/2006/main">
              <a:ext uri="{FF2B5EF4-FFF2-40B4-BE49-F238E27FC236}">
                <a16:creationId xmlns:a16="http://schemas.microsoft.com/office/drawing/2014/main" id="{79C06642-F029-466D-9FDE-4CBF3B57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77025"/>
            <a:ext cx="1257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입력 예시: 10 / 2021 / 0013789     CPC: A47B 13/06</a:t>
            </a:r>
          </a:p>
        </p:txBody>
      </p:sp>
    </p:spTree>
    <p:extLst>
      <p:ext uri="{BB962C8B-B14F-4D97-AF65-F5344CB8AC3E}">
        <p14:creationId xmlns:p14="http://schemas.microsoft.com/office/powerpoint/2010/main" val="16091315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29">
            <a:extLst xmlns:a="http://schemas.openxmlformats.org/drawingml/2006/main">
              <a:ext uri="{FF2B5EF4-FFF2-40B4-BE49-F238E27FC236}">
                <a16:creationId xmlns:a16="http://schemas.microsoft.com/office/drawing/2014/main" id="{82BF5017-6B8A-49E6-B2D1-B2510940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2573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rPr>
              <a:t>AI 담당자의 의뢰 확인</a:t>
            </a:r>
          </a:p>
        </p:txBody>
      </p:sp>
      <p:sp>
        <p:nvSpPr>
          <p:cNvPr id="2" name="text-30">
            <a:extLst xmlns:a="http://schemas.openxmlformats.org/drawingml/2006/main">
              <a:ext uri="{FF2B5EF4-FFF2-40B4-BE49-F238E27FC236}">
                <a16:creationId xmlns:a16="http://schemas.microsoft.com/office/drawing/2014/main" id="{5395EC2C-0538-400D-93B9-E9E5730E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8662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rPr>
              <a:t>기획국 사용 안내 · 교육용 예시</a:t>
            </a:r>
          </a:p>
        </p:txBody>
      </p:sp>
      <p:sp>
        <p:nvSpPr>
          <p:cNvPr id="3" name="text-31">
            <a:extLst xmlns:a="http://schemas.openxmlformats.org/drawingml/2006/main">
              <a:ext uri="{FF2B5EF4-FFF2-40B4-BE49-F238E27FC236}">
                <a16:creationId xmlns:a16="http://schemas.microsoft.com/office/drawing/2014/main" id="{7EB73497-A073-40FC-9777-2C24C06C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24852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-32">
            <a:extLst xmlns:a="http://schemas.openxmlformats.org/drawingml/2006/main">
              <a:ext uri="{FF2B5EF4-FFF2-40B4-BE49-F238E27FC236}">
                <a16:creationId xmlns:a16="http://schemas.microsoft.com/office/drawing/2014/main" id="{C582C27D-CABE-4657-80B1-28164F94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text-33">
            <a:extLst xmlns:a="http://schemas.openxmlformats.org/drawingml/2006/main">
              <a:ext uri="{FF2B5EF4-FFF2-40B4-BE49-F238E27FC236}">
                <a16:creationId xmlns:a16="http://schemas.microsoft.com/office/drawing/2014/main" id="{AFCF77F3-673C-4E2A-B139-657E88D5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33500"/>
            <a:ext cx="351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AI 담당 업무에서</a:t>
            </a:r>
          </a:p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출원번호와 담당 AI를 확인합니다.</a:t>
            </a:r>
          </a:p>
        </p:txBody>
      </p:sp>
      <p:sp>
        <p:nvSpPr>
          <p:cNvPr id="6" name="text-34">
            <a:extLst xmlns:a="http://schemas.openxmlformats.org/drawingml/2006/main">
              <a:ext uri="{FF2B5EF4-FFF2-40B4-BE49-F238E27FC236}">
                <a16:creationId xmlns:a16="http://schemas.microsoft.com/office/drawing/2014/main" id="{EAA35B51-8AF0-438A-8BB6-218E2B99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13525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text-35">
            <a:extLst xmlns:a="http://schemas.openxmlformats.org/drawingml/2006/main">
              <a:ext uri="{FF2B5EF4-FFF2-40B4-BE49-F238E27FC236}">
                <a16:creationId xmlns:a16="http://schemas.microsoft.com/office/drawing/2014/main" id="{BD3213A5-0B82-4A6C-9EE6-C1B7E56E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350" y="1333500"/>
            <a:ext cx="351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공개공보 PDF를 받고</a:t>
            </a:r>
          </a:p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외부 AI에서 검색을 수행합니다.</a:t>
            </a:r>
          </a:p>
        </p:txBody>
      </p:sp>
      <p:sp>
        <p:nvSpPr>
          <p:cNvPr id="8" name="text-36">
            <a:extLst xmlns:a="http://schemas.openxmlformats.org/drawingml/2006/main">
              <a:ext uri="{FF2B5EF4-FFF2-40B4-BE49-F238E27FC236}">
                <a16:creationId xmlns:a16="http://schemas.microsoft.com/office/drawing/2014/main" id="{3D1DAD65-7C74-4A53-BBCF-C175589A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00" y="13525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text-37">
            <a:extLst xmlns:a="http://schemas.openxmlformats.org/drawingml/2006/main">
              <a:ext uri="{FF2B5EF4-FFF2-40B4-BE49-F238E27FC236}">
                <a16:creationId xmlns:a16="http://schemas.microsoft.com/office/drawing/2014/main" id="{16987696-4FCB-4EA8-AC47-242C3AB9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1333500"/>
            <a:ext cx="351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출원번호를 눌러</a:t>
            </a:r>
          </a:p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결과 입력 창을 엽니다.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83C9B-2237-4E33-BEFA-7147F3F6177C}"/>
              </a:ext>
            </a:extLst>
          </p:cNvPr>
          <p:cNvGraphicFramePr/>
          <p:nvPr/>
        </p:nvGraphicFramePr>
        <p:xfrm>
          <a:off xmlns:a="http://schemas.openxmlformats.org/drawingml/2006/main" x="571500" y="2590800"/>
          <a:ext xmlns:a="http://schemas.openxmlformats.org/drawingml/2006/main" cx="12573000" cy="3114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8382000"/>
              </a:tblGrid>
              <a:tr h="62293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항목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T w="9525">
                      <a:solidFill>
                        <a:srgbClr val="CFD9E4"/>
                      </a:solidFill>
                      <a:prstDash val="solid"/>
                    </a:lnT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132F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방법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T w="9525">
                      <a:solidFill>
                        <a:srgbClr val="CFD9E4"/>
                      </a:solidFill>
                      <a:prstDash val="solid"/>
                    </a:lnT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132F50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출원번호와 담당 AI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의뢰된 업무 목록에서 확인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출원 원문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공개공보 PDF 받기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월의 전체 원문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공개공보 ZIP 받기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검색 결과 입력 창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출원번호 선택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text-38">
            <a:extLst xmlns:a="http://schemas.openxmlformats.org/drawingml/2006/main">
              <a:ext uri="{FF2B5EF4-FFF2-40B4-BE49-F238E27FC236}">
                <a16:creationId xmlns:a16="http://schemas.microsoft.com/office/drawing/2014/main" id="{BDBB88BF-8D85-4C64-974C-012E7A12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57925"/>
            <a:ext cx="1257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AI 검색은 외부 AI에서 수행한 뒤, 이 사이트에 결과를 입력합니다.</a:t>
            </a:r>
          </a:p>
        </p:txBody>
      </p:sp>
    </p:spTree>
    <p:extLst>
      <p:ext uri="{BB962C8B-B14F-4D97-AF65-F5344CB8AC3E}">
        <p14:creationId xmlns:p14="http://schemas.microsoft.com/office/powerpoint/2010/main" val="2947432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39">
            <a:extLst xmlns:a="http://schemas.openxmlformats.org/drawingml/2006/main">
              <a:ext uri="{FF2B5EF4-FFF2-40B4-BE49-F238E27FC236}">
                <a16:creationId xmlns:a16="http://schemas.microsoft.com/office/drawing/2014/main" id="{1B6038D7-D6CB-43CB-8490-F09527C8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2573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rPr>
              <a:t>AI 검색 결과의 수동 추가</a:t>
            </a:r>
          </a:p>
        </p:txBody>
      </p:sp>
      <p:sp>
        <p:nvSpPr>
          <p:cNvPr id="2" name="text-40">
            <a:extLst xmlns:a="http://schemas.openxmlformats.org/drawingml/2006/main">
              <a:ext uri="{FF2B5EF4-FFF2-40B4-BE49-F238E27FC236}">
                <a16:creationId xmlns:a16="http://schemas.microsoft.com/office/drawing/2014/main" id="{95B30BAD-AFCB-4D90-9164-4C2D3FDF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8662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rPr>
              <a:t>기획국 사용 안내 · 교육용 예시</a:t>
            </a:r>
          </a:p>
        </p:txBody>
      </p:sp>
      <p:sp>
        <p:nvSpPr>
          <p:cNvPr id="3" name="text-41">
            <a:extLst xmlns:a="http://schemas.openxmlformats.org/drawingml/2006/main">
              <a:ext uri="{FF2B5EF4-FFF2-40B4-BE49-F238E27FC236}">
                <a16:creationId xmlns:a16="http://schemas.microsoft.com/office/drawing/2014/main" id="{AF699C54-6CC9-453F-B52C-701465C9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24852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-42">
            <a:extLst xmlns:a="http://schemas.openxmlformats.org/drawingml/2006/main">
              <a:ext uri="{FF2B5EF4-FFF2-40B4-BE49-F238E27FC236}">
                <a16:creationId xmlns:a16="http://schemas.microsoft.com/office/drawing/2014/main" id="{2D38F97F-11F9-4C9E-84BD-AB9B9959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text-43">
            <a:extLst xmlns:a="http://schemas.openxmlformats.org/drawingml/2006/main">
              <a:ext uri="{FF2B5EF4-FFF2-40B4-BE49-F238E27FC236}">
                <a16:creationId xmlns:a16="http://schemas.microsoft.com/office/drawing/2014/main" id="{86720B0B-333B-4CFE-90FE-B409DD5B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33500"/>
            <a:ext cx="351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수동 추가에서</a:t>
            </a:r>
          </a:p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특허 또는 비특허문헌을 선택합니다.</a:t>
            </a:r>
          </a:p>
        </p:txBody>
      </p:sp>
      <p:sp>
        <p:nvSpPr>
          <p:cNvPr id="6" name="text-44">
            <a:extLst xmlns:a="http://schemas.openxmlformats.org/drawingml/2006/main">
              <a:ext uri="{FF2B5EF4-FFF2-40B4-BE49-F238E27FC236}">
                <a16:creationId xmlns:a16="http://schemas.microsoft.com/office/drawing/2014/main" id="{75407459-D8A2-419F-93A3-D8074711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13525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text-45">
            <a:extLst xmlns:a="http://schemas.openxmlformats.org/drawingml/2006/main">
              <a:ext uri="{FF2B5EF4-FFF2-40B4-BE49-F238E27FC236}">
                <a16:creationId xmlns:a16="http://schemas.microsoft.com/office/drawing/2014/main" id="{C8F9BCB9-FF5E-4205-ABC9-03745727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350" y="1333500"/>
            <a:ext cx="351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공보번호·원문 URL·보고서를</a:t>
            </a:r>
          </a:p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입력하고 내용을 확인합니다.</a:t>
            </a:r>
          </a:p>
        </p:txBody>
      </p:sp>
      <p:sp>
        <p:nvSpPr>
          <p:cNvPr id="8" name="text-46">
            <a:extLst xmlns:a="http://schemas.openxmlformats.org/drawingml/2006/main">
              <a:ext uri="{FF2B5EF4-FFF2-40B4-BE49-F238E27FC236}">
                <a16:creationId xmlns:a16="http://schemas.microsoft.com/office/drawing/2014/main" id="{BD6704FC-1020-4755-8631-0F096495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00" y="13525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text-47">
            <a:extLst xmlns:a="http://schemas.openxmlformats.org/drawingml/2006/main">
              <a:ext uri="{FF2B5EF4-FFF2-40B4-BE49-F238E27FC236}">
                <a16:creationId xmlns:a16="http://schemas.microsoft.com/office/drawing/2014/main" id="{29F16C0B-3D48-4740-9A01-487A363C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1333500"/>
            <a:ext cx="351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문헌은 출원·AI별 최대 7개입니다.</a:t>
            </a:r>
          </a:p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초안은 자동 저장합니다.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3F55A-C3C4-4764-B51B-01149EECF280}"/>
              </a:ext>
            </a:extLst>
          </p:cNvPr>
          <p:cNvGraphicFramePr/>
          <p:nvPr/>
        </p:nvGraphicFramePr>
        <p:xfrm>
          <a:off xmlns:a="http://schemas.openxmlformats.org/drawingml/2006/main" x="571500" y="2571750"/>
          <a:ext xmlns:a="http://schemas.openxmlformats.org/drawingml/2006/main" cx="125730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8477250"/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항목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T w="9525">
                      <a:solidFill>
                        <a:srgbClr val="CFD9E4"/>
                      </a:solidFill>
                      <a:prstDash val="solid"/>
                    </a:lnT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132F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예시 또는 기준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T w="9525">
                      <a:solidFill>
                        <a:srgbClr val="CFD9E4"/>
                      </a:solidFill>
                      <a:prstDash val="solid"/>
                    </a:lnT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132F5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문헌 종류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특허 / 비특허문헌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특허 문헌번호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KR20220014141A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URL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https://patents.google.com/patent/KR20220014141A/ko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문헌별 보고서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내용과 근거 위치를 마크다운으로 입력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text-48">
            <a:extLst xmlns:a="http://schemas.openxmlformats.org/drawingml/2006/main">
              <a:ext uri="{FF2B5EF4-FFF2-40B4-BE49-F238E27FC236}">
                <a16:creationId xmlns:a16="http://schemas.microsoft.com/office/drawing/2014/main" id="{86BF47EB-7375-4B9C-9F52-87D4EDA7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출원번호 10-2020-0093844와 문헌번호 KR20220014141A를 구분합니다.</a:t>
            </a:r>
          </a:p>
        </p:txBody>
      </p:sp>
      <p:sp>
        <p:nvSpPr>
          <p:cNvPr id="12" name="text-49">
            <a:extLst xmlns:a="http://schemas.openxmlformats.org/drawingml/2006/main">
              <a:ext uri="{FF2B5EF4-FFF2-40B4-BE49-F238E27FC236}">
                <a16:creationId xmlns:a16="http://schemas.microsoft.com/office/drawing/2014/main" id="{5E14B42B-0C7A-463E-9946-C017F0BD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19875"/>
            <a:ext cx="1257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65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566A7E"/>
                </a:solidFill>
                <a:latin typeface="Malgun Gothic"/>
                <a:ea typeface="Malgun Gothic"/>
                <a:cs typeface="Malgun Gothic"/>
              </a:rPr>
              <a:t>위 문헌번호는 입력 형식 예시이며, 대상 출원과의 관련성을 뜻하지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5413000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50">
            <a:extLst xmlns:a="http://schemas.openxmlformats.org/drawingml/2006/main">
              <a:ext uri="{FF2B5EF4-FFF2-40B4-BE49-F238E27FC236}">
                <a16:creationId xmlns:a16="http://schemas.microsoft.com/office/drawing/2014/main" id="{A0727090-9FBD-403E-B32F-75325341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2573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rPr>
              <a:t>자동 추가와 입력 완료</a:t>
            </a:r>
          </a:p>
        </p:txBody>
      </p:sp>
      <p:sp>
        <p:nvSpPr>
          <p:cNvPr id="2" name="text-51">
            <a:extLst xmlns:a="http://schemas.openxmlformats.org/drawingml/2006/main">
              <a:ext uri="{FF2B5EF4-FFF2-40B4-BE49-F238E27FC236}">
                <a16:creationId xmlns:a16="http://schemas.microsoft.com/office/drawing/2014/main" id="{387D2C7B-994E-4E50-8964-1A3035F9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8662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rPr>
              <a:t>기획국 사용 안내 · 교육용 예시</a:t>
            </a:r>
          </a:p>
        </p:txBody>
      </p:sp>
      <p:sp>
        <p:nvSpPr>
          <p:cNvPr id="3" name="text-52">
            <a:extLst xmlns:a="http://schemas.openxmlformats.org/drawingml/2006/main">
              <a:ext uri="{FF2B5EF4-FFF2-40B4-BE49-F238E27FC236}">
                <a16:creationId xmlns:a16="http://schemas.microsoft.com/office/drawing/2014/main" id="{725EBA70-5A5F-4E67-9FA0-2DC0CF24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24852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text-53">
            <a:extLst xmlns:a="http://schemas.openxmlformats.org/drawingml/2006/main">
              <a:ext uri="{FF2B5EF4-FFF2-40B4-BE49-F238E27FC236}">
                <a16:creationId xmlns:a16="http://schemas.microsoft.com/office/drawing/2014/main" id="{F8F46559-0F66-4AEA-90F7-7E7B0AAD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text-54">
            <a:extLst xmlns:a="http://schemas.openxmlformats.org/drawingml/2006/main">
              <a:ext uri="{FF2B5EF4-FFF2-40B4-BE49-F238E27FC236}">
                <a16:creationId xmlns:a16="http://schemas.microsoft.com/office/drawing/2014/main" id="{3DB1DB6E-F1F4-489E-ABD2-AF78F3F7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33500"/>
            <a:ext cx="351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포맷팅 프롬프트를 복사해</a:t>
            </a:r>
          </a:p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외부 AI의 출력 형식을 맞춥니다.</a:t>
            </a:r>
          </a:p>
        </p:txBody>
      </p:sp>
      <p:sp>
        <p:nvSpPr>
          <p:cNvPr id="6" name="text-55">
            <a:extLst xmlns:a="http://schemas.openxmlformats.org/drawingml/2006/main">
              <a:ext uri="{FF2B5EF4-FFF2-40B4-BE49-F238E27FC236}">
                <a16:creationId xmlns:a16="http://schemas.microsoft.com/office/drawing/2014/main" id="{9EE06910-5C72-4051-A943-B585DD39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13525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text-56">
            <a:extLst xmlns:a="http://schemas.openxmlformats.org/drawingml/2006/main">
              <a:ext uri="{FF2B5EF4-FFF2-40B4-BE49-F238E27FC236}">
                <a16:creationId xmlns:a16="http://schemas.microsoft.com/office/drawing/2014/main" id="{9E28E80B-33CF-4843-B14A-F26DA5C2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350" y="1333500"/>
            <a:ext cx="351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자동 추가에 JSON을 붙여 넣고</a:t>
            </a:r>
          </a:p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기존 목록에 N문헌 추가를 누릅니다.</a:t>
            </a:r>
          </a:p>
        </p:txBody>
      </p:sp>
      <p:sp>
        <p:nvSpPr>
          <p:cNvPr id="8" name="text-57">
            <a:extLst xmlns:a="http://schemas.openxmlformats.org/drawingml/2006/main">
              <a:ext uri="{FF2B5EF4-FFF2-40B4-BE49-F238E27FC236}">
                <a16:creationId xmlns:a16="http://schemas.microsoft.com/office/drawing/2014/main" id="{0CFFE71A-BFEE-473D-B3C4-DD7B51CF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00" y="13525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text-58">
            <a:extLst xmlns:a="http://schemas.openxmlformats.org/drawingml/2006/main">
              <a:ext uri="{FF2B5EF4-FFF2-40B4-BE49-F238E27FC236}">
                <a16:creationId xmlns:a16="http://schemas.microsoft.com/office/drawing/2014/main" id="{7E9917D4-7E2E-409C-AE79-8943A461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1333500"/>
            <a:ext cx="351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등록한 문헌을 확인하고</a:t>
            </a:r>
          </a:p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입력 완료로 심사관에게 공개합니다.</a:t>
            </a:r>
          </a:p>
        </p:txBody>
      </p:sp>
      <p:sp>
        <p:nvSpPr>
          <p:cNvPr id="10" name="text-59">
            <a:extLst xmlns:a="http://schemas.openxmlformats.org/drawingml/2006/main">
              <a:ext uri="{FF2B5EF4-FFF2-40B4-BE49-F238E27FC236}">
                <a16:creationId xmlns:a16="http://schemas.microsoft.com/office/drawing/2014/main" id="{ABF2D245-CEFE-4AB0-8290-E25EC83E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257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rPr>
              <a:t>JSON 입력 형식 예시</a:t>
            </a:r>
          </a:p>
        </p:txBody>
      </p:sp>
      <p:sp>
        <p:nvSpPr>
          <p:cNvPr id="11" name="text-60">
            <a:extLst xmlns:a="http://schemas.openxmlformats.org/drawingml/2006/main">
              <a:ext uri="{FF2B5EF4-FFF2-40B4-BE49-F238E27FC236}">
                <a16:creationId xmlns:a16="http://schemas.microsoft.com/office/drawing/2014/main" id="{187DC631-22D7-4F78-832A-87DB7C3D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19475"/>
            <a:ext cx="12573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rPr>
              <a:t>{</a:t>
            </a:r>
          </a:p>
          <a:p xmlns:a="http://schemas.openxmlformats.org/drawingml/2006/main">
            <a:pPr>
              <a:def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rPr>
              <a:t>  "documents": [{</a:t>
            </a:r>
          </a:p>
          <a:p xmlns:a="http://schemas.openxmlformats.org/drawingml/2006/main">
            <a:pPr>
              <a:def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rPr>
              <a:t>    "kind": "patent",</a:t>
            </a:r>
          </a:p>
          <a:p xmlns:a="http://schemas.openxmlformats.org/drawingml/2006/main">
            <a:pPr>
              <a:def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rPr>
              <a:t>    "number": "KR20220014141A",</a:t>
            </a:r>
          </a:p>
          <a:p xmlns:a="http://schemas.openxmlformats.org/drawingml/2006/main">
            <a:pPr>
              <a:def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rPr>
              <a:t>    "reportMarkdown": "입력 형식을 설명하는 교육용 예시입니다."</a:t>
            </a:r>
          </a:p>
          <a:p xmlns:a="http://schemas.openxmlformats.org/drawingml/2006/main">
            <a:pPr>
              <a:def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rPr>
              <a:t>  }]</a:t>
            </a:r>
          </a:p>
          <a:p xmlns:a="http://schemas.openxmlformats.org/drawingml/2006/main">
            <a:pPr>
              <a:def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>
                <a:solidFill>
                  <a:srgbClr val="284A70"/>
                </a:solidFill>
                <a:latin typeface="Malgun Gothic"/>
                <a:ea typeface="Malgun Gothic"/>
                <a:cs typeface="Malgun Gothic"/>
              </a:rPr>
              <a:t>}</a:t>
            </a:r>
          </a:p>
        </p:txBody>
      </p:sp>
      <p:sp>
        <p:nvSpPr>
          <p:cNvPr id="12" name="text-61">
            <a:extLst xmlns:a="http://schemas.openxmlformats.org/drawingml/2006/main">
              <a:ext uri="{FF2B5EF4-FFF2-40B4-BE49-F238E27FC236}">
                <a16:creationId xmlns:a16="http://schemas.microsoft.com/office/drawing/2014/main" id="{FE383ADD-0F1A-47AF-9DED-C56C00CF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48425"/>
            <a:ext cx="1257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자동 저장은 초안 보관입니다. 입력 완료해야 심사관에게 공개합니다.</a:t>
            </a:r>
          </a:p>
        </p:txBody>
      </p:sp>
    </p:spTree>
    <p:extLst>
      <p:ext uri="{BB962C8B-B14F-4D97-AF65-F5344CB8AC3E}">
        <p14:creationId xmlns:p14="http://schemas.microsoft.com/office/powerpoint/2010/main" val="15860872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62">
            <a:extLst xmlns:a="http://schemas.openxmlformats.org/drawingml/2006/main">
              <a:ext uri="{FF2B5EF4-FFF2-40B4-BE49-F238E27FC236}">
                <a16:creationId xmlns:a16="http://schemas.microsoft.com/office/drawing/2014/main" id="{BE7B4170-9684-4A06-BDF4-1DDE5E45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2573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rPr>
              <a:t>심사관의 문헌 평가</a:t>
            </a:r>
          </a:p>
        </p:txBody>
      </p:sp>
      <p:sp>
        <p:nvSpPr>
          <p:cNvPr id="2" name="text-63">
            <a:extLst xmlns:a="http://schemas.openxmlformats.org/drawingml/2006/main">
              <a:ext uri="{FF2B5EF4-FFF2-40B4-BE49-F238E27FC236}">
                <a16:creationId xmlns:a16="http://schemas.microsoft.com/office/drawing/2014/main" id="{FBDCB12F-B13F-48D5-A2BC-1C626188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8662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rPr>
              <a:t>기획국 사용 안내 · 교육용 예시</a:t>
            </a:r>
          </a:p>
        </p:txBody>
      </p:sp>
      <p:sp>
        <p:nvSpPr>
          <p:cNvPr id="3" name="text-64">
            <a:extLst xmlns:a="http://schemas.openxmlformats.org/drawingml/2006/main">
              <a:ext uri="{FF2B5EF4-FFF2-40B4-BE49-F238E27FC236}">
                <a16:creationId xmlns:a16="http://schemas.microsoft.com/office/drawing/2014/main" id="{18202CA5-C64A-446F-B5FC-F23472D4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24852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text-65">
            <a:extLst xmlns:a="http://schemas.openxmlformats.org/drawingml/2006/main">
              <a:ext uri="{FF2B5EF4-FFF2-40B4-BE49-F238E27FC236}">
                <a16:creationId xmlns:a16="http://schemas.microsoft.com/office/drawing/2014/main" id="{09F46794-924C-4AE9-8EAA-9815B622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text-66">
            <a:extLst xmlns:a="http://schemas.openxmlformats.org/drawingml/2006/main">
              <a:ext uri="{FF2B5EF4-FFF2-40B4-BE49-F238E27FC236}">
                <a16:creationId xmlns:a16="http://schemas.microsoft.com/office/drawing/2014/main" id="{A5AEF9FA-28F7-40B9-8D02-F2698F2C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33500"/>
            <a:ext cx="351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내 평가 대상 건에서</a:t>
            </a:r>
          </a:p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평가 입력을 누릅니다.</a:t>
            </a:r>
          </a:p>
        </p:txBody>
      </p:sp>
      <p:sp>
        <p:nvSpPr>
          <p:cNvPr id="6" name="text-67">
            <a:extLst xmlns:a="http://schemas.openxmlformats.org/drawingml/2006/main">
              <a:ext uri="{FF2B5EF4-FFF2-40B4-BE49-F238E27FC236}">
                <a16:creationId xmlns:a16="http://schemas.microsoft.com/office/drawing/2014/main" id="{81B2A889-A43D-4B0B-B0EC-B0734D2F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13525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text-68">
            <a:extLst xmlns:a="http://schemas.openxmlformats.org/drawingml/2006/main">
              <a:ext uri="{FF2B5EF4-FFF2-40B4-BE49-F238E27FC236}">
                <a16:creationId xmlns:a16="http://schemas.microsoft.com/office/drawing/2014/main" id="{25214A50-2A20-459A-BAC7-A0188168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350" y="1333500"/>
            <a:ext cx="351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문헌과 보고서를 확인하고</a:t>
            </a:r>
          </a:p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점수 0~5점과 인용 O/X를 입력합니다.</a:t>
            </a:r>
          </a:p>
        </p:txBody>
      </p:sp>
      <p:sp>
        <p:nvSpPr>
          <p:cNvPr id="8" name="text-69">
            <a:extLst xmlns:a="http://schemas.openxmlformats.org/drawingml/2006/main">
              <a:ext uri="{FF2B5EF4-FFF2-40B4-BE49-F238E27FC236}">
                <a16:creationId xmlns:a16="http://schemas.microsoft.com/office/drawing/2014/main" id="{D92E20CC-1D80-45AF-BCC4-06F2679F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00" y="13525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text-70">
            <a:extLst xmlns:a="http://schemas.openxmlformats.org/drawingml/2006/main">
              <a:ext uri="{FF2B5EF4-FFF2-40B4-BE49-F238E27FC236}">
                <a16:creationId xmlns:a16="http://schemas.microsoft.com/office/drawing/2014/main" id="{24F0D432-123A-4E77-8685-6227B25E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1333500"/>
            <a:ext cx="351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모든 문헌을 평가한 뒤</a:t>
            </a:r>
          </a:p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평가 결과 보기를 누릅니다.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3F018-8353-4D19-A3DE-30CA7115ADDB}"/>
              </a:ext>
            </a:extLst>
          </p:cNvPr>
          <p:cNvGraphicFramePr/>
          <p:nvPr/>
        </p:nvGraphicFramePr>
        <p:xfrm>
          <a:off xmlns:a="http://schemas.openxmlformats.org/drawingml/2006/main" x="571500" y="2628900"/>
          <a:ext xmlns:a="http://schemas.openxmlformats.org/drawingml/2006/main" cx="12573000" cy="2609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8382000"/>
              </a:tblGrid>
              <a:tr h="6524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 항목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T w="9525">
                      <a:solidFill>
                        <a:srgbClr val="CFD9E4"/>
                      </a:solidFill>
                      <a:prstDash val="solid"/>
                    </a:lnT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132F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기준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T w="9525">
                      <a:solidFill>
                        <a:srgbClr val="CFD9E4"/>
                      </a:solidFill>
                      <a:prstDash val="solid"/>
                    </a:lnT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132F50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문헌 점수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0~5점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인용 여부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인용 O / 미인용 X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문헌별 피드백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필요한 경우 입력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-71">
            <a:extLst xmlns:a="http://schemas.openxmlformats.org/drawingml/2006/main">
              <a:ext uri="{FF2B5EF4-FFF2-40B4-BE49-F238E27FC236}">
                <a16:creationId xmlns:a16="http://schemas.microsoft.com/office/drawing/2014/main" id="{D5EF4F44-40E6-4A47-883B-22B32509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257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3점: 평균적인 선행기술조사 보고서 수준</a:t>
            </a:r>
          </a:p>
        </p:txBody>
      </p:sp>
      <p:sp>
        <p:nvSpPr>
          <p:cNvPr id="12" name="text-72">
            <a:extLst xmlns:a="http://schemas.openxmlformats.org/drawingml/2006/main">
              <a:ext uri="{FF2B5EF4-FFF2-40B4-BE49-F238E27FC236}">
                <a16:creationId xmlns:a16="http://schemas.microsoft.com/office/drawing/2014/main" id="{823ADC49-2567-499B-8796-A403A222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257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공개된 AI 방식별 문헌을 모두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2359389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73">
            <a:extLst xmlns:a="http://schemas.openxmlformats.org/drawingml/2006/main">
              <a:ext uri="{FF2B5EF4-FFF2-40B4-BE49-F238E27FC236}">
                <a16:creationId xmlns:a16="http://schemas.microsoft.com/office/drawing/2014/main" id="{01160683-735B-4A78-93F3-473B1908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2573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rPr>
              <a:t>검색 품질 순위와 평가 종료</a:t>
            </a:r>
          </a:p>
        </p:txBody>
      </p:sp>
      <p:sp>
        <p:nvSpPr>
          <p:cNvPr id="2" name="text-74">
            <a:extLst xmlns:a="http://schemas.openxmlformats.org/drawingml/2006/main">
              <a:ext uri="{FF2B5EF4-FFF2-40B4-BE49-F238E27FC236}">
                <a16:creationId xmlns:a16="http://schemas.microsoft.com/office/drawing/2014/main" id="{03F872EE-DC00-44BA-B24C-53C71F10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8662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rPr>
              <a:t>기획국 사용 안내 · 교육용 예시</a:t>
            </a:r>
          </a:p>
        </p:txBody>
      </p:sp>
      <p:sp>
        <p:nvSpPr>
          <p:cNvPr id="3" name="text-75">
            <a:extLst xmlns:a="http://schemas.openxmlformats.org/drawingml/2006/main">
              <a:ext uri="{FF2B5EF4-FFF2-40B4-BE49-F238E27FC236}">
                <a16:creationId xmlns:a16="http://schemas.microsoft.com/office/drawing/2014/main" id="{DF99D148-8432-4979-AF2B-75F8994E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24852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text-76">
            <a:extLst xmlns:a="http://schemas.openxmlformats.org/drawingml/2006/main">
              <a:ext uri="{FF2B5EF4-FFF2-40B4-BE49-F238E27FC236}">
                <a16:creationId xmlns:a16="http://schemas.microsoft.com/office/drawing/2014/main" id="{4CDA7502-6B3A-480C-9A0D-D18BAFD1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text-77">
            <a:extLst xmlns:a="http://schemas.openxmlformats.org/drawingml/2006/main">
              <a:ext uri="{FF2B5EF4-FFF2-40B4-BE49-F238E27FC236}">
                <a16:creationId xmlns:a16="http://schemas.microsoft.com/office/drawing/2014/main" id="{4E389E9C-A530-4BA0-AED2-F121676C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33500"/>
            <a:ext cx="351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조사 방식별 검색 품질 순위를</a:t>
            </a:r>
          </a:p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입력합니다. 동순위는 허용하지 않습니다.</a:t>
            </a:r>
          </a:p>
        </p:txBody>
      </p:sp>
      <p:sp>
        <p:nvSpPr>
          <p:cNvPr id="6" name="text-78">
            <a:extLst xmlns:a="http://schemas.openxmlformats.org/drawingml/2006/main">
              <a:ext uri="{FF2B5EF4-FFF2-40B4-BE49-F238E27FC236}">
                <a16:creationId xmlns:a16="http://schemas.microsoft.com/office/drawing/2014/main" id="{4F4B8B9E-79A6-4475-9710-AF6CC942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00" y="13525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text-79">
            <a:extLst xmlns:a="http://schemas.openxmlformats.org/drawingml/2006/main">
              <a:ext uri="{FF2B5EF4-FFF2-40B4-BE49-F238E27FC236}">
                <a16:creationId xmlns:a16="http://schemas.microsoft.com/office/drawing/2014/main" id="{4E851032-70C9-4FAB-9D23-62C1B650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350" y="1333500"/>
            <a:ext cx="351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보고서가 있으면 함께 비교하고</a:t>
            </a:r>
          </a:p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없으면 AI 방식끼리 비교합니다.</a:t>
            </a:r>
          </a:p>
        </p:txBody>
      </p:sp>
      <p:sp>
        <p:nvSpPr>
          <p:cNvPr id="8" name="text-80">
            <a:extLst xmlns:a="http://schemas.openxmlformats.org/drawingml/2006/main">
              <a:ext uri="{FF2B5EF4-FFF2-40B4-BE49-F238E27FC236}">
                <a16:creationId xmlns:a16="http://schemas.microsoft.com/office/drawing/2014/main" id="{F9206A15-AF38-4790-9B9B-1244C6F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00" y="1352550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text-81">
            <a:extLst xmlns:a="http://schemas.openxmlformats.org/drawingml/2006/main">
              <a:ext uri="{FF2B5EF4-FFF2-40B4-BE49-F238E27FC236}">
                <a16:creationId xmlns:a16="http://schemas.microsoft.com/office/drawing/2014/main" id="{8FEF356E-2064-48A2-BE74-533EEDC3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1333500"/>
            <a:ext cx="351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평가 종료를 누릅니다.</a:t>
            </a:r>
          </a:p>
          <a:p xmlns:a="http://schemas.openxmlformats.org/drawingml/2006/main">
            <a:pPr>
              <a:def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임시저장은 진행 중 상태입니다.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1AEBE-6BF0-4133-B5C2-AF1BE6540711}"/>
              </a:ext>
            </a:extLst>
          </p:cNvPr>
          <p:cNvGraphicFramePr/>
          <p:nvPr/>
        </p:nvGraphicFramePr>
        <p:xfrm>
          <a:off xmlns:a="http://schemas.openxmlformats.org/drawingml/2006/main" x="571500" y="2628900"/>
          <a:ext xmlns:a="http://schemas.openxmlformats.org/drawingml/2006/main" cx="12573000" cy="2609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8382000"/>
              </a:tblGrid>
              <a:tr h="6524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대상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T w="9525">
                      <a:solidFill>
                        <a:srgbClr val="CFD9E4"/>
                      </a:solidFill>
                      <a:prstDash val="solid"/>
                    </a:lnT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132F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순위 입력 방법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T w="9525">
                      <a:solidFill>
                        <a:srgbClr val="CFD9E4"/>
                      </a:solidFill>
                      <a:prstDash val="solid"/>
                    </a:lnT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132F50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1개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불가 선택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2~3개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수에 맞춰 1~2위 또는 1~3위 선택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4개 이상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상위 3개는 1~3위, 나머지는 순위 외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-82">
            <a:extLst xmlns:a="http://schemas.openxmlformats.org/drawingml/2006/main">
              <a:ext uri="{FF2B5EF4-FFF2-40B4-BE49-F238E27FC236}">
                <a16:creationId xmlns:a16="http://schemas.microsoft.com/office/drawing/2014/main" id="{BD93C40A-9E71-4E00-B254-1645B5FC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9775"/>
            <a:ext cx="1257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5CB8"/>
                </a:solidFill>
                <a:latin typeface="Malgun Gothic"/>
                <a:ea typeface="Malgun Gothic"/>
                <a:cs typeface="Malgun Gothic"/>
              </a:rPr>
              <a:t>순위를 입력한 뒤 평가 종료를 눌러야 완료합니다.</a:t>
            </a:r>
          </a:p>
        </p:txBody>
      </p:sp>
      <p:sp>
        <p:nvSpPr>
          <p:cNvPr id="12" name="text-83">
            <a:extLst xmlns:a="http://schemas.openxmlformats.org/drawingml/2006/main">
              <a:ext uri="{FF2B5EF4-FFF2-40B4-BE49-F238E27FC236}">
                <a16:creationId xmlns:a16="http://schemas.microsoft.com/office/drawing/2014/main" id="{0DBE48E8-E1B2-4F38-86AE-7DC39D73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1257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>
                <a:solidFill>
                  <a:srgbClr val="566A7E"/>
                </a:solidFill>
                <a:latin typeface="Malgun Gothic"/>
                <a:ea typeface="Malgun Gothic"/>
                <a:cs typeface="Malgun Gothic"/>
              </a:rPr>
              <a:t>출원 전체 피드백은 선택 입력입니다.</a:t>
            </a:r>
          </a:p>
        </p:txBody>
      </p:sp>
    </p:spTree>
    <p:extLst>
      <p:ext uri="{BB962C8B-B14F-4D97-AF65-F5344CB8AC3E}">
        <p14:creationId xmlns:p14="http://schemas.microsoft.com/office/powerpoint/2010/main" val="17353658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84">
            <a:extLst xmlns:a="http://schemas.openxmlformats.org/drawingml/2006/main">
              <a:ext uri="{FF2B5EF4-FFF2-40B4-BE49-F238E27FC236}">
                <a16:creationId xmlns:a16="http://schemas.microsoft.com/office/drawing/2014/main" id="{49ADFEE4-8BC7-4E22-A1B0-2E50ED90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"/>
            <a:ext cx="12573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rPr>
              <a:t>완료 상태와 수정 방법</a:t>
            </a:r>
          </a:p>
        </p:txBody>
      </p:sp>
      <p:sp>
        <p:nvSpPr>
          <p:cNvPr id="2" name="text-85">
            <a:extLst xmlns:a="http://schemas.openxmlformats.org/drawingml/2006/main">
              <a:ext uri="{FF2B5EF4-FFF2-40B4-BE49-F238E27FC236}">
                <a16:creationId xmlns:a16="http://schemas.microsoft.com/office/drawing/2014/main" id="{F39D1A25-FDAE-43F2-AAA3-73C14B09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8662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66A7E"/>
                </a:solidFill>
                <a:latin typeface="Malgun Gothic"/>
                <a:ea typeface="Malgun Gothic"/>
                <a:cs typeface="Malgun Gothic"/>
              </a:rPr>
              <a:t>기획국 사용 안내 · 교육용 예시</a:t>
            </a:r>
          </a:p>
        </p:txBody>
      </p:sp>
      <p:sp>
        <p:nvSpPr>
          <p:cNvPr id="3" name="text-86">
            <a:extLst xmlns:a="http://schemas.openxmlformats.org/drawingml/2006/main">
              <a:ext uri="{FF2B5EF4-FFF2-40B4-BE49-F238E27FC236}">
                <a16:creationId xmlns:a16="http://schemas.microsoft.com/office/drawing/2014/main" id="{7F113C38-5C28-4D97-8735-D7270AA1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248525"/>
            <a:ext cx="76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66A7E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56F01-1FCE-4EC4-82AB-FB23F90E8C4C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257300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762250"/>
                <a:gridCol w="5619750"/>
              </a:tblGrid>
              <a:tr h="6619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T w="9525">
                      <a:solidFill>
                        <a:srgbClr val="CFD9E4"/>
                      </a:solidFill>
                      <a:prstDash val="solid"/>
                    </a:lnT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132F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버튼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T w="9525">
                      <a:solidFill>
                        <a:srgbClr val="CFD9E4"/>
                      </a:solidFill>
                      <a:prstDash val="solid"/>
                    </a:lnT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132F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후 확인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T w="9525">
                      <a:solidFill>
                        <a:srgbClr val="CFD9E4"/>
                      </a:solidFill>
                      <a:prstDash val="solid"/>
                    </a:lnT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132F50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심사관의 대상 선정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선정 확정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확정한 목록을 AI 담당자가 확인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담당자의 결과 입력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완료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공개한 문헌을 심사관이 평가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심사관의 평가</a:t>
                      </a:r>
                    </a:p>
                  </a:txBody>
                  <a:tcPr marL="152400" marR="152400" marT="114300" marB="114300" anchor="ctr">
                    <a:lnL w="9525">
                      <a:solidFill>
                        <a:srgbClr val="CFD9E4"/>
                      </a:solidFill>
                      <a:prstDash val="solid"/>
                    </a:lnL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 종료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B4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업무 목록의 완료 상태 확인</a:t>
                      </a:r>
                    </a:p>
                  </a:txBody>
                  <a:tcPr marL="152400" marR="152400" marT="114300" marB="114300" anchor="ctr">
                    <a:lnR w="9525">
                      <a:solidFill>
                        <a:srgbClr val="CFD9E4"/>
                      </a:solidFill>
                      <a:prstDash val="solid"/>
                    </a:lnR>
                    <a:lnB w="9525">
                      <a:solidFill>
                        <a:srgbClr val="CFD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87">
            <a:extLst xmlns:a="http://schemas.openxmlformats.org/drawingml/2006/main">
              <a:ext uri="{FF2B5EF4-FFF2-40B4-BE49-F238E27FC236}">
                <a16:creationId xmlns:a16="http://schemas.microsoft.com/office/drawing/2014/main" id="{77E141C8-4270-4C7C-A784-099EFDB2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1257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2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2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2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2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2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2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2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2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2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32F50"/>
                </a:solidFill>
                <a:latin typeface="Malgun Gothic"/>
                <a:ea typeface="Malgun Gothic"/>
                <a:cs typeface="Malgun Gothic"/>
              </a:rPr>
              <a:t>작업이 막힐 때</a:t>
            </a:r>
          </a:p>
        </p:txBody>
      </p:sp>
      <p:sp>
        <p:nvSpPr>
          <p:cNvPr id="6" name="text-88">
            <a:extLst xmlns:a="http://schemas.openxmlformats.org/drawingml/2006/main">
              <a:ext uri="{FF2B5EF4-FFF2-40B4-BE49-F238E27FC236}">
                <a16:creationId xmlns:a16="http://schemas.microsoft.com/office/drawing/2014/main" id="{3329E3A7-EF2F-479F-AED7-BFA2327D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53025"/>
            <a:ext cx="12573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업무가 없으면 운영월·선정 확정·담당 AI 배정을 확인합니다.</a:t>
            </a:r>
          </a:p>
          <a:p xmlns:a="http://schemas.openxmlformats.org/drawingml/2006/main">
            <a: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입력할 수 없으면 관리자에게 해당 단계의 진행 여부를 확인합니다.</a:t>
            </a:r>
          </a:p>
          <a:p xmlns:a="http://schemas.openxmlformats.org/drawingml/2006/main">
            <a:pPr>
              <a:def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>
                <a:solidFill>
                  <a:srgbClr val="152B41"/>
                </a:solidFill>
                <a:latin typeface="Malgun Gothic"/>
                <a:ea typeface="Malgun Gothic"/>
                <a:cs typeface="Malgun Gothic"/>
              </a:rPr>
              <a:t>결과 변경 후 재확인 필요가 뜨면 평가를 다시 확인합니다.</a:t>
            </a:r>
          </a:p>
        </p:txBody>
      </p:sp>
      <p:sp>
        <p:nvSpPr>
          <p:cNvPr id="7" name="text-89">
            <a:extLst xmlns:a="http://schemas.openxmlformats.org/drawingml/2006/main">
              <a:ext uri="{FF2B5EF4-FFF2-40B4-BE49-F238E27FC236}">
                <a16:creationId xmlns:a16="http://schemas.microsoft.com/office/drawing/2014/main" id="{4D30EF19-EF0E-4E1D-9AF2-6BCFDF08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77025"/>
            <a:ext cx="1257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566A7E"/>
                </a:solidFill>
                <a:latin typeface="Malgun Gothic"/>
                <a:ea typeface="Malgun Gothic"/>
                <a:cs typeface="Malgun Gothic"/>
              </a:rPr>
              <a:t>진행 중에는 제출 목록 수정·평가 수정을 사용할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5135697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2026-10-31T09:42:25.2620000Z</dcterms:created>
  <dcterms:modified xsi:type="dcterms:W3CDTF">2026-10-31T09:42:25.2620000Z</dcterms:modified>
</coreProperties>
</file>