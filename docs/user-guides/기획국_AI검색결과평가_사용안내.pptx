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de382069b94222" /><Relationship Type="http://schemas.openxmlformats.org/officeDocument/2006/relationships/extended-properties" Target="/docProps/app.xml" Id="R3f462c6c620f4a0c" /><Relationship Type="http://schemas.openxmlformats.org/officeDocument/2006/relationships/officeDocument" Target="/ppt/presentation.xml" Id="R85b6a11b507a44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83946677794090"/>
  </p:sldMasterIdLst>
  <p:notesMasterIdLst>
    <p:notesMasterId xmlns:r="http://schemas.openxmlformats.org/officeDocument/2006/relationships" r:id="R46cee0cfe6174c45"/>
  </p:notesMasterIdLst>
  <p:sldIdLst>
    <p:sldId xmlns:r="http://schemas.openxmlformats.org/officeDocument/2006/relationships" id="256" r:id="R9d64a24615d34aea"/>
    <p:sldId xmlns:r="http://schemas.openxmlformats.org/officeDocument/2006/relationships" id="257" r:id="Rf15a3d20c2504ea1"/>
    <p:sldId xmlns:r="http://schemas.openxmlformats.org/officeDocument/2006/relationships" id="258" r:id="R4ce2329233e44c2c"/>
    <p:sldId xmlns:r="http://schemas.openxmlformats.org/officeDocument/2006/relationships" id="259" r:id="R6d0b3e83939149da"/>
    <p:sldId xmlns:r="http://schemas.openxmlformats.org/officeDocument/2006/relationships" id="260" r:id="R81794d6d3fd9425b"/>
    <p:sldId xmlns:r="http://schemas.openxmlformats.org/officeDocument/2006/relationships" id="261" r:id="R751e25eafd6a4ccb"/>
    <p:sldId xmlns:r="http://schemas.openxmlformats.org/officeDocument/2006/relationships" id="262" r:id="Ra0f9958fee5f41eb"/>
    <p:sldId xmlns:r="http://schemas.openxmlformats.org/officeDocument/2006/relationships" id="263" r:id="R207e2b363ff44b9e"/>
    <p:sldId xmlns:r="http://schemas.openxmlformats.org/officeDocument/2006/relationships" id="264" r:id="Rb893afc8975f41a2"/>
    <p:sldId xmlns:r="http://schemas.openxmlformats.org/officeDocument/2006/relationships" id="265" r:id="Rd5f59b26f0144b08"/>
    <p:sldId xmlns:r="http://schemas.openxmlformats.org/officeDocument/2006/relationships" id="266" r:id="Rf6109e1761494ded"/>
    <p:sldId xmlns:r="http://schemas.openxmlformats.org/officeDocument/2006/relationships" id="267" r:id="Ra88fa66c39fd4c73"/>
    <p:sldId xmlns:r="http://schemas.openxmlformats.org/officeDocument/2006/relationships" id="268" r:id="R503f6d093efa49e4"/>
    <p:sldId xmlns:r="http://schemas.openxmlformats.org/officeDocument/2006/relationships" id="269" r:id="R04597e4d2b074b8f"/>
    <p:sldId xmlns:r="http://schemas.openxmlformats.org/officeDocument/2006/relationships" id="270" r:id="R48e1a6a8da834c4a"/>
    <p:sldId xmlns:r="http://schemas.openxmlformats.org/officeDocument/2006/relationships" id="271" r:id="Rfe7a725a37a24817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1f962e79056494f" /><Relationship Type="http://schemas.openxmlformats.org/officeDocument/2006/relationships/slideMaster" Target="/ppt/slideMasters/slideMaster1.xml" Id="R4f83946677794090" /><Relationship Type="http://schemas.openxmlformats.org/officeDocument/2006/relationships/notesMaster" Target="/ppt/notesMasters/notesMaster1.xml" Id="R46cee0cfe6174c45" /><Relationship Type="http://schemas.openxmlformats.org/officeDocument/2006/relationships/presProps" Target="/ppt/presProps.xml" Id="R0a2cb378e19942dd" /><Relationship Type="http://schemas.openxmlformats.org/officeDocument/2006/relationships/tableStyles" Target="/ppt/tableStyles.xml" Id="Rb8c6b7d5598446f1" /><Relationship Type="http://schemas.openxmlformats.org/officeDocument/2006/relationships/slide" Target="/ppt/slides/slide1.xml" Id="R9d64a24615d34aea" /><Relationship Type="http://schemas.openxmlformats.org/officeDocument/2006/relationships/slide" Target="/ppt/slides/slide2.xml" Id="Rf15a3d20c2504ea1" /><Relationship Type="http://schemas.openxmlformats.org/officeDocument/2006/relationships/slide" Target="/ppt/slides/slide3.xml" Id="R4ce2329233e44c2c" /><Relationship Type="http://schemas.openxmlformats.org/officeDocument/2006/relationships/slide" Target="/ppt/slides/slide4.xml" Id="R6d0b3e83939149da" /><Relationship Type="http://schemas.openxmlformats.org/officeDocument/2006/relationships/slide" Target="/ppt/slides/slide5.xml" Id="R81794d6d3fd9425b" /><Relationship Type="http://schemas.openxmlformats.org/officeDocument/2006/relationships/slide" Target="/ppt/slides/slide6.xml" Id="R751e25eafd6a4ccb" /><Relationship Type="http://schemas.openxmlformats.org/officeDocument/2006/relationships/slide" Target="/ppt/slides/slide7.xml" Id="Ra0f9958fee5f41eb" /><Relationship Type="http://schemas.openxmlformats.org/officeDocument/2006/relationships/slide" Target="/ppt/slides/slide8.xml" Id="R207e2b363ff44b9e" /><Relationship Type="http://schemas.openxmlformats.org/officeDocument/2006/relationships/slide" Target="/ppt/slides/slide9.xml" Id="Rb893afc8975f41a2" /><Relationship Type="http://schemas.openxmlformats.org/officeDocument/2006/relationships/slide" Target="/ppt/slides/slide10.xml" Id="Rd5f59b26f0144b08" /><Relationship Type="http://schemas.openxmlformats.org/officeDocument/2006/relationships/slide" Target="/ppt/slides/slide11.xml" Id="Rf6109e1761494ded" /><Relationship Type="http://schemas.openxmlformats.org/officeDocument/2006/relationships/slide" Target="/ppt/slides/slide12.xml" Id="Ra88fa66c39fd4c73" /><Relationship Type="http://schemas.openxmlformats.org/officeDocument/2006/relationships/slide" Target="/ppt/slides/slide13.xml" Id="R503f6d093efa49e4" /><Relationship Type="http://schemas.openxmlformats.org/officeDocument/2006/relationships/slide" Target="/ppt/slides/slide14.xml" Id="R04597e4d2b074b8f" /><Relationship Type="http://schemas.openxmlformats.org/officeDocument/2006/relationships/slide" Target="/ppt/slides/slide15.xml" Id="R48e1a6a8da834c4a" /><Relationship Type="http://schemas.openxmlformats.org/officeDocument/2006/relationships/slide" Target="/ppt/slides/slide16.xml" Id="Rfe7a725a37a2481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7b042ae2bb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ac723b30454b95" /><Relationship Type="http://schemas.openxmlformats.org/officeDocument/2006/relationships/notesMaster" Target="/ppt/notesMasters/notesMaster1.xml" Id="R7ce412f6fe024b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5a72871b09549c5" /><Relationship Type="http://schemas.openxmlformats.org/officeDocument/2006/relationships/notesMaster" Target="/ppt/notesMasters/notesMaster1.xml" Id="R8ac5b3c68ba144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3bfe8bf7524d33" /><Relationship Type="http://schemas.openxmlformats.org/officeDocument/2006/relationships/notesMaster" Target="/ppt/notesMasters/notesMaster1.xml" Id="Ra39d8c125e0e4c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ac01049a4141ac" /><Relationship Type="http://schemas.openxmlformats.org/officeDocument/2006/relationships/notesMaster" Target="/ppt/notesMasters/notesMaster1.xml" Id="R26d741e4d48d4b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857a185f1942f4" /><Relationship Type="http://schemas.openxmlformats.org/officeDocument/2006/relationships/notesMaster" Target="/ppt/notesMasters/notesMaster1.xml" Id="R991d8149bf4e40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bbee90d8474b44" /><Relationship Type="http://schemas.openxmlformats.org/officeDocument/2006/relationships/notesMaster" Target="/ppt/notesMasters/notesMaster1.xml" Id="R29ebc1f592d14d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fe3b52924846f3" /><Relationship Type="http://schemas.openxmlformats.org/officeDocument/2006/relationships/notesMaster" Target="/ppt/notesMasters/notesMaster1.xml" Id="Rb7d440caba05478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6281300a49544d0" /><Relationship Type="http://schemas.openxmlformats.org/officeDocument/2006/relationships/notesMaster" Target="/ppt/notesMasters/notesMaster1.xml" Id="Rf7f9d2d0b57442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3d8810b4ba54e83" /><Relationship Type="http://schemas.openxmlformats.org/officeDocument/2006/relationships/notesMaster" Target="/ppt/notesMasters/notesMaster1.xml" Id="R97f9bf958a8f43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5c12046a25411b" /><Relationship Type="http://schemas.openxmlformats.org/officeDocument/2006/relationships/notesMaster" Target="/ppt/notesMasters/notesMaster1.xml" Id="Rcee534c341bc44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f2dd31950ce4d73" /><Relationship Type="http://schemas.openxmlformats.org/officeDocument/2006/relationships/notesMaster" Target="/ppt/notesMasters/notesMaster1.xml" Id="Ra3cb7c4e3d664d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b78a1518b8b44a9" /><Relationship Type="http://schemas.openxmlformats.org/officeDocument/2006/relationships/notesMaster" Target="/ppt/notesMasters/notesMaster1.xml" Id="Rc92791c24415495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7ec0aa945f40e9" /><Relationship Type="http://schemas.openxmlformats.org/officeDocument/2006/relationships/notesMaster" Target="/ppt/notesMasters/notesMaster1.xml" Id="Rdd38a868314a49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1ee21aff6a470b" /><Relationship Type="http://schemas.openxmlformats.org/officeDocument/2006/relationships/notesMaster" Target="/ppt/notesMasters/notesMaster1.xml" Id="Rfe5a8d338df9425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9a739e987c24aa1" /><Relationship Type="http://schemas.openxmlformats.org/officeDocument/2006/relationships/notesMaster" Target="/ppt/notesMasters/notesMaster1.xml" Id="R76942e182e1b4db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a4a5a1fdd064c10" /><Relationship Type="http://schemas.openxmlformats.org/officeDocument/2006/relationships/notesMaster" Target="/ppt/notesMasters/notesMaster1.xml" Id="Rab4f812389d243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대상 선정, AI 검색 결과 입력, 문헌 평가와 평가 종료를 설명합니다. 검색 실행은 담당자가 외부 AI에서 수행합니다.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 및 화면 기준</a:t>
            </a:r>
          </a:p>
          <a:p xmlns:a="http://schemas.openxmlformats.org/drawingml/2006/main">
            <a:r>
              <a:t>https://patent-examiner-mvp.sohnjun96.workers.dev/%EA%B8%B0%ED%9A%8D%EA%B5%AD</a:t>
            </a:r>
          </a:p>
          <a:p xmlns:a="http://schemas.openxmlformats.org/drawingml/2006/main">
            <a:r>
              <a:t>https://moip.go.kr/ko/introduce/dpetInfoMgmt.do?menuCd=SCD0201147&amp;parntMenuCd2=SCD0200434</a:t>
            </a:r>
          </a:p>
          <a:p xmlns:a="http://schemas.openxmlformats.org/drawingml/2006/main">
            <a:r>
              <a:t>앱 소스 확인: 2026-10-31. 기획국과 동일한 앱의 독립된 교육용 자료를 사용했습니다. 인물, 배정, 입력 결과와 점수는 사용법 설명용 예시입니다.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부서명을 사용하되 해당 출원의 실제 담당 부서나 심사관을 뜻하지 않습니다. 예시 출원은 공개된 한국 특허입니다. 출원번호와 공개번호를 구분합니다. 가구의 공개번호는 KR20220110642A, 의류처리장치의 공개번호는 KR20220014141A입니다.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 및 화면 기준</a:t>
            </a:r>
          </a:p>
          <a:p xmlns:a="http://schemas.openxmlformats.org/drawingml/2006/main">
            <a:r>
              <a:t>https://moip.go.kr/ko/introduce/dpetInfoMgmt.do?menuCd=SCD0201147&amp;parntMenuCd2=SCD0200434</a:t>
            </a:r>
          </a:p>
          <a:p xmlns:a="http://schemas.openxmlformats.org/drawingml/2006/main">
            <a:r>
              <a:t>https://patents.google.com/patent/KR20220110642A/ko</a:t>
            </a:r>
          </a:p>
          <a:p xmlns:a="http://schemas.openxmlformats.org/drawingml/2006/main">
            <a:r>
              <a:t>https://patents.google.com/patent/KR20220014141A/ko</a:t>
            </a:r>
          </a:p>
          <a:p xmlns:a="http://schemas.openxmlformats.org/drawingml/2006/main">
            <a:r>
              <a:t>앱 소스 확인: 2026-10-31. 기획국과 동일한 앱의 독립된 교육용 자료를 사용했습니다. 인물, 배정, 입력 결과와 점수는 사용법 설명용 예시입니다.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부서명: 생활용품심사과, 가전제품심사과. 이름은 가명입니다. 초기 화면의 공지 아래에 사용자 목록이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관리자가 각 단계를 진행으로 설정해야 입력할 수 있습니다. 기한은 안내용이며 기한 경과만으로 단계를 마감하지 않습니다. 예시는 2026년 11월입니다.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화면은 기존 행의 수정 예시입니다. 출원번호는 10 / 2021 / 0013789, CPC는 A47B 13/06입니다. 보고서 있음·없음은 실제 보유 여부에 따라 선택합니다. 행의 추가와 저장은 목록을 임시저장하며, 선정 확정해야 AI 담당자에게 공개합니다.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선정 단계가 진행이면 제출 목록 수정에서 목록을 고친 뒤 수정 사항 저장을 누릅니다. AI 결과가 아직 공개되지 않은 출원은 입력 대기로 표시합니다. 보고서가 있는 건은 공개 AI 결과와 선행기술조사 보고서를 비교하고, 없는 건은 AI 방식끼리 순위를 매깁니다.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개별 공개공보는 공개공보 PDF 받기, 해당 월 전체는 전체 공개공보 ZIP 받기를 사용합니다. 사이트 자체가 AI 검색을 실행하지 않습니다. 출원번호를 누르면 별도 결과 입력 창을 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특허 문헌번호에는 국가코드와 공보 기호를 포함합니다. 출원번호와 공개·등록 문헌번호를 구분합니다. 비특허문헌은 논문명·문서 제목이 필수이며 서지정보 입력에서 나머지 정보를 기록합니다. 출원·AI 방식별 최대 7문헌을 입력합니다. 화면은 기존 문헌의 편집 예시입니다.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https://github.com/sohnjun96/PatentExamTools/blob/feat/ai-evaluation-workspace/app/evaluation/task/result-editor.tsx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프롬프트는 특허·비특허문헌의 JSON 필드, 최대 7문헌, 원문 URL, 마크다운 보고서 작성 형식을 안내합니다. 검색 내용은 담당자가 확인해야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https://github.com/sohnjun96/PatentExamTools/blob/feat/ai-evaluation-workspace/app/evaluation/task/result-editor.tsx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붙여 넣기만 하면 아직 목록에 추가되지 않습니다. 형식·중복·7건 초과를 확인한 뒤 목록에 추가합니다. 입력하지 않을 JSON은 입력란 비우기로 지웁니다. 예시 문헌 KR20230013410A는 스마트 냉장고의 공개공보이며 실제 선행기술 관련성 판단을 의미하지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https://github.com/sohnjun96/PatentExamTools/blob/feat/ai-evaluation-workspace/app/evaluation/task/result-editor.tsx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문헌별 보고서는 마크다운과 표를 지원하며 최대 30,000자입니다. 입력 변경 후 약 0.8초 뒤 초안을 자동 저장합니다. 자동 저장한 초안은 비공개입니다. 입력 완료해야 심사관에게 공개합니다. 화면의 서로 다른 부분을 확대했습니다.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https://github.com/sohnjun96/PatentExamTools/blob/feat/ai-evaluation-workspace/app/evaluation/task/result-editor.tsx</a:t>
            </a:r>
          </a:p>
          <a:p xmlns:a="http://schemas.openxmlformats.org/drawingml/2006/main">
            <a:r>
              <a:t>https://github.com/sohnjun96/PatentExamTools/blob/feat/ai-evaluation-workspace/app/evaluation/task/task-workspace.tsx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업무가 보이지 않으면 운영월·선정 확정·그룹별 담당 AI 배정을 확인합니다. 공개 문헌·서지정보·URL·보고서를 변경해 다시 공개하면 기존 평가는 재확인 대상이 될 수 있습니다. 순서만 변경하면 평가를 유지합니다.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https://github.com/sohnjun96/PatentExamTools/blob/feat/ai-evaluation-workspace/app/evaluation/workspace.tsx</a:t>
            </a:r>
          </a:p>
          <a:p xmlns:a="http://schemas.openxmlformats.org/drawingml/2006/main">
            <a:r>
              <a:t>https://github.com/sohnjun96/PatentExamTools/blob/feat/ai-evaluation-workspace/app/evaluation/task/task-workspace.tsx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공개된 AI 방식의 문헌을 모두 확인합니다. 문헌별 피드백은 선택 입력입니다. 3점은 평균적인 선행기술조사 보고서 수준입니다. 화면의 점수와 인용 여부는 교육용 예시입니다. 모든 문헌 평가를 입력하면 평가 결과 보기가 활성화됩니다.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https://github.com/sohnjun96/PatentExamTools/blob/feat/ai-evaluation-workspace/app/evaluation/task/evaluation-reader.tsx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선행기술조사 보고서 있음이면 AI와 보고서를 비교하고, 없음이면 AI 방식끼리 비교합니다. 비교 대상이 하나면 비교 불가, 4개 이상이면 상위 3개는 1~3위이고 나머지는 순위 외를 선택합니다. 비교하지 않을 방식에는 평가 제외를 사용합니다. 임시저장만 하면 최종 완료가 아닙니다. 화면의 순위는 교육용 예시이며 서로 다른 화면 부분을 확대했습니다.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https://github.com/sohnjun96/PatentExamTools/blob/feat/ai-evaluation-workspace/app/evaluation/task/evaluation-reader.tsx</a:t>
            </a:r>
          </a:p>
          <a:p xmlns:a="http://schemas.openxmlformats.org/drawingml/2006/main">
            <a:r>
              <a:t>https://github.com/sohnjun96/PatentExamTools/blob/feat/ai-evaluation-workspace/app/lib/evaluation-guidance.ts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평가 종료 성공 후 읽기 전용으로 표시하고 원래 업무 목록의 완료 상태를 갱신합니다. 실패하면 입력은 유지하고 완료 상태로 바꾸지 않습니다. AI 결과가 새로 공개되거나 변경되면 재확인 필요가 표시될 수 있습니다. 화면의 위쪽 안내와 아래쪽 완료 버튼을 확대했습니다.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기준: 2026-10-31. 기존 앱의 React 컴포넌트·CSS·업무 처리 로직을 사용하는 별도 로컬 교육용 화면을 캡처했습니다. 실제 심사부서명과 공개된 출원번호를 사용했으며, 인물·담당 배정·입력 문헌·보고서·점수·순위는 사용법 설명용 예시입니다. 실제 관련성 판단이나 검색 품질을 뜻하지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사용자 사이트: https://patent-examiner-mvp.sohnjun96.workers.dev/기획국</a:t>
            </a:r>
          </a:p>
          <a:p xmlns:a="http://schemas.openxmlformats.org/drawingml/2006/main">
            <a:r>
              <a:t>https://github.com/sohnjun96/PatentExamTools/blob/feat/ai-evaluation-workspace/app/evaluation/task/evaluation-reader.tsx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대상 선정 단계의 진행 중에는 제출 목록 수정, 평가 단계의 진행 중에는 평가 수정을 사용합니다. 공개된 문헌·서지정보·URL·보고서를 변경하여 재공개하면 기존 평가는 재확인 대상이 될 수 있습니다. 단순한 순서 변경은 평가를 유지합니다. 저장 실패나 충돌 안내가 나오면 현재 입력을 보관하고 최신 자료 확인 절차를 따릅니다. 심사관 내 업무 자료 엑셀 저장, AI 담당자 담당 자료 엑셀 저장으로 자료를 보관할 수 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출처 및 화면 기준</a:t>
            </a:r>
          </a:p>
          <a:p xmlns:a="http://schemas.openxmlformats.org/drawingml/2006/main">
            <a:r>
              <a:t>https://github.com/sohnjun96/PatentExamTools/blob/feat/ai-evaluation-workspace/docs/BUREAU_WORKSPACES.md</a:t>
            </a:r>
          </a:p>
          <a:p xmlns:a="http://schemas.openxmlformats.org/drawingml/2006/main">
            <a:r>
              <a:t>앱 소스 확인: 2026-10-31. 기획국과 동일한 앱의 독립된 교육용 자료를 사용했습니다. 인물, 배정, 입력 결과와 점수는 사용법 설명용 예시입니다.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fcaf94888542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dc50fb0c044bd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943470acea492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27f53dd0d146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ce846e269f43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c782df1ed349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4DFDE4-8826-44F6-B20F-49A17BC7E8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2914650"/>
            <a:ext cx="10972800" cy="1114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4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EA1B351-8A6C-473C-9AD9-3D1F1FF4BD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57400" y="4243388"/>
            <a:ext cx="9601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10176F-78A3-485A-9C62-12CD56B7E7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71600" y="3214688"/>
            <a:ext cx="109728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7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CB86BD-FCA3-4B95-9986-C90733FF1A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7A3D299-8397-458F-A299-56D94D469A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121729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FCD9490-6EBF-4F14-811A-424584FCB1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94D92E-30F6-498C-8120-226F06FBC6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43DAA85-2CA8-48EE-898B-DE3B694CB5E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866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36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A055D0-410F-43E9-B8A9-0DD12AC0E5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71525" y="600075"/>
            <a:ext cx="121729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6D2C8E-74C5-4274-BCA8-E89E9CBD6C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71525" y="2143125"/>
            <a:ext cx="5657850" cy="480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571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000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429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858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6287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9716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3145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6574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000375" indent="-257175" algn="l">
              <a:lnSpc>
                <a:spcPct val="110000"/>
              </a:lnSpc>
              <a:spcBef>
                <a:spcPts val="0"/>
              </a:spcBef>
              <a:spcAft>
                <a:spcPts val="1350"/>
              </a:spcAft>
              <a:buChar char="•"/>
              <a:defRPr sz="25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06292b29684ab4" /><Relationship Type="http://schemas.openxmlformats.org/officeDocument/2006/relationships/slideLayout" Target="/ppt/slideLayouts/slideLayout1.xml" Id="R03677a150f6c4814" /><Relationship Type="http://schemas.openxmlformats.org/officeDocument/2006/relationships/slideLayout" Target="/ppt/slideLayouts/slideLayout2.xml" Id="R09dc96f023d04d6e" /><Relationship Type="http://schemas.openxmlformats.org/officeDocument/2006/relationships/slideLayout" Target="/ppt/slideLayouts/slideLayout3.xml" Id="Reda08d5c6cdf4ffd" /><Relationship Type="http://schemas.openxmlformats.org/officeDocument/2006/relationships/slideLayout" Target="/ppt/slideLayouts/slideLayout4.xml" Id="R82eef166e79b4578" /><Relationship Type="http://schemas.openxmlformats.org/officeDocument/2006/relationships/slideLayout" Target="/ppt/slideLayouts/slideLayout5.xml" Id="R9c6efa08bd054ace" /><Relationship Type="http://schemas.openxmlformats.org/officeDocument/2006/relationships/slideLayout" Target="/ppt/slideLayouts/slideLayout6.xml" Id="R2375c0f84a3b4f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677a150f6c4814"/>
    <p:sldLayoutId xmlns:r="http://schemas.openxmlformats.org/officeDocument/2006/relationships" id="2147483650" r:id="R09dc96f023d04d6e"/>
    <p:sldLayoutId xmlns:r="http://schemas.openxmlformats.org/officeDocument/2006/relationships" id="2147483651" r:id="Reda08d5c6cdf4ffd"/>
    <p:sldLayoutId xmlns:r="http://schemas.openxmlformats.org/officeDocument/2006/relationships" id="2147483652" r:id="R82eef166e79b4578"/>
    <p:sldLayoutId xmlns:r="http://schemas.openxmlformats.org/officeDocument/2006/relationships" id="2147483653" r:id="R9c6efa08bd054ace"/>
    <p:sldLayoutId xmlns:r="http://schemas.openxmlformats.org/officeDocument/2006/relationships" id="2147483654" r:id="R2375c0f84a3b4f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75b42fd6db494a" /><Relationship Type="http://schemas.openxmlformats.org/officeDocument/2006/relationships/notesSlide" Target="/ppt/notesSlides/notesSlide1.xml" Id="R5e079ab3c99942e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775d2fb9714869" /><Relationship Type="http://schemas.openxmlformats.org/officeDocument/2006/relationships/notesSlide" Target="/ppt/notesSlides/notesSlide2.xml" Id="Rb79b3fe01f7946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03784dbf6f49f6" /><Relationship Type="http://schemas.openxmlformats.org/officeDocument/2006/relationships/image" Target="/ppt/media/image.jpeg" Id="Red07619a078f4610" /><Relationship Type="http://schemas.openxmlformats.org/officeDocument/2006/relationships/hyperlink" Target="https://patent-examiner-mvp.sohnjun96.workers.dev/%EA%B8%B0%ED%9A%8D%EA%B5%AD" TargetMode="External" Id="Rba2afc00a1cd4525" /><Relationship Type="http://schemas.openxmlformats.org/officeDocument/2006/relationships/notesSlide" Target="/ppt/notesSlides/notesSlide3.xml" Id="Rcbe79d7d273a48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c28ed4c084a09" /><Relationship Type="http://schemas.openxmlformats.org/officeDocument/2006/relationships/image" Target="/ppt/media/image2.jpeg" Id="Rd56c89cc23a548d6" /><Relationship Type="http://schemas.openxmlformats.org/officeDocument/2006/relationships/notesSlide" Target="/ppt/notesSlides/notesSlide4.xml" Id="Ra5fa6b1ce30a4c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afda1e8c3b4c58" /><Relationship Type="http://schemas.openxmlformats.org/officeDocument/2006/relationships/image" Target="/ppt/media/image3.jpeg" Id="R90ead3daf3be4918" /><Relationship Type="http://schemas.openxmlformats.org/officeDocument/2006/relationships/notesSlide" Target="/ppt/notesSlides/notesSlide5.xml" Id="R68cf5f9ab62a4a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cd709b962a40c9" /><Relationship Type="http://schemas.openxmlformats.org/officeDocument/2006/relationships/image" Target="/ppt/media/image4.jpeg" Id="R345b92f7d9ec4b81" /><Relationship Type="http://schemas.openxmlformats.org/officeDocument/2006/relationships/notesSlide" Target="/ppt/notesSlides/notesSlide6.xml" Id="R9c0a251c173749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ebb642084143e2" /><Relationship Type="http://schemas.openxmlformats.org/officeDocument/2006/relationships/image" Target="/ppt/media/image5.jpeg" Id="R2d83fc777b7f4270" /><Relationship Type="http://schemas.openxmlformats.org/officeDocument/2006/relationships/notesSlide" Target="/ppt/notesSlides/notesSlide7.xml" Id="Re9fdb0bdd0954b0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4040c4db9f45ee" /><Relationship Type="http://schemas.openxmlformats.org/officeDocument/2006/relationships/image" Target="/ppt/media/image6.jpeg" Id="R766bd21609b04815" /><Relationship Type="http://schemas.openxmlformats.org/officeDocument/2006/relationships/notesSlide" Target="/ppt/notesSlides/notesSlide8.xml" Id="R28926c8be4774a0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7e6b0e143f4586" /><Relationship Type="http://schemas.openxmlformats.org/officeDocument/2006/relationships/image" Target="/ppt/media/image7.jpeg" Id="R457faa1ce9c04456" /><Relationship Type="http://schemas.openxmlformats.org/officeDocument/2006/relationships/notesSlide" Target="/ppt/notesSlides/notesSlide9.xml" Id="Rcc50c5dee89747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85dee1e2ad47f1" /><Relationship Type="http://schemas.openxmlformats.org/officeDocument/2006/relationships/image" Target="/ppt/media/image8.jpeg" Id="R03f3553191864907" /><Relationship Type="http://schemas.openxmlformats.org/officeDocument/2006/relationships/notesSlide" Target="/ppt/notesSlides/notesSlide10.xml" Id="Rc893418bd3b2424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0bb605bb4b46cc" /><Relationship Type="http://schemas.openxmlformats.org/officeDocument/2006/relationships/image" Target="/ppt/media/image9.jpeg" Id="R98c86d5c3f0a44cc" /><Relationship Type="http://schemas.openxmlformats.org/officeDocument/2006/relationships/image" Target="/ppt/media/image10.jpeg" Id="R4cf8e566b7194bfa" /><Relationship Type="http://schemas.openxmlformats.org/officeDocument/2006/relationships/image" Target="/ppt/media/image11.jpeg" Id="R42701eddd7af4958" /><Relationship Type="http://schemas.openxmlformats.org/officeDocument/2006/relationships/notesSlide" Target="/ppt/notesSlides/notesSlide11.xml" Id="R18aabfd9e7f841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6e0aa50c1f4a36" /><Relationship Type="http://schemas.openxmlformats.org/officeDocument/2006/relationships/image" Target="/ppt/media/image12.jpeg" Id="Rdd9c2c0de0d94b57" /><Relationship Type="http://schemas.openxmlformats.org/officeDocument/2006/relationships/notesSlide" Target="/ppt/notesSlides/notesSlide12.xml" Id="R35a1c928aab74ff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7365a8026e4980" /><Relationship Type="http://schemas.openxmlformats.org/officeDocument/2006/relationships/image" Target="/ppt/media/image13.jpeg" Id="R8d56c5fa30354336" /><Relationship Type="http://schemas.openxmlformats.org/officeDocument/2006/relationships/notesSlide" Target="/ppt/notesSlides/notesSlide13.xml" Id="R68584aa5886649f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d536a1ead64955" /><Relationship Type="http://schemas.openxmlformats.org/officeDocument/2006/relationships/image" Target="/ppt/media/image14.jpeg" Id="R02abcdfa5c964151" /><Relationship Type="http://schemas.openxmlformats.org/officeDocument/2006/relationships/image" Target="/ppt/media/image15.jpeg" Id="R2e38260dce7949e5" /><Relationship Type="http://schemas.openxmlformats.org/officeDocument/2006/relationships/notesSlide" Target="/ppt/notesSlides/notesSlide14.xml" Id="R605b170cf22c4a2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aa340a2b34547" /><Relationship Type="http://schemas.openxmlformats.org/officeDocument/2006/relationships/image" Target="/ppt/media/image16.jpeg" Id="R12f8665d098e4f4f" /><Relationship Type="http://schemas.openxmlformats.org/officeDocument/2006/relationships/image" Target="/ppt/media/image17.jpeg" Id="R5d7f29975a5546bc" /><Relationship Type="http://schemas.openxmlformats.org/officeDocument/2006/relationships/notesSlide" Target="/ppt/notesSlides/notesSlide15.xml" Id="R74d6956a51994ce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f6faa439d74528" /><Relationship Type="http://schemas.openxmlformats.org/officeDocument/2006/relationships/notesSlide" Target="/ppt/notesSlides/notesSlide16.xml" Id="Rca20778d2cbf4c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F5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1">
            <a:extLst xmlns:a="http://schemas.openxmlformats.org/drawingml/2006/main">
              <a:ext uri="{FF2B5EF4-FFF2-40B4-BE49-F238E27FC236}">
                <a16:creationId xmlns:a16="http://schemas.microsoft.com/office/drawing/2014/main" id="{8A3DDC5C-BF2C-407A-8C45-316B4774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B8D3F5"/>
                </a:solidFill>
                <a:latin typeface="Malgun Gothic"/>
                <a:ea typeface="Malgun Gothic"/>
                <a:cs typeface="Malgun Gothic"/>
              </a:rPr>
              <a:t>기획국</a:t>
            </a:r>
          </a:p>
        </p:txBody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900B9EDF-94EA-434B-9FA3-E02D1C30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2192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검색 결과 평가</a:t>
            </a:r>
          </a:p>
          <a:p xmlns:a="http://schemas.openxmlformats.org/drawingml/2006/main">
            <a:pPr>
              <a:buNone/>
              <a:def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7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 안내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C997C35E-74FD-46A4-BC38-2390F7E1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38725"/>
            <a:ext cx="1143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심사관 · AI 담당자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C1D8D9E4-C7A5-4FC9-A8DD-CBB93EBE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67450"/>
            <a:ext cx="1219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solidFill>
                  <a:srgbClr val="D6E3F1"/>
                </a:solidFill>
                <a:latin typeface="Malgun Gothic"/>
                <a:ea typeface="Malgun Gothic"/>
                <a:cs typeface="Malgun Gothic"/>
              </a:rPr>
              <a:t>실제 부서명과 공개 출원번호를 사용한 교육용 예시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CA8EABFA-9762-48B1-9C8D-B76C4C96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4847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B8D3F5"/>
                </a:solidFill>
                <a:latin typeface="Malgun Gothic"/>
                <a:ea typeface="Malgun Gothic"/>
                <a:cs typeface="Malgun Gothic"/>
              </a:rPr>
              <a:t>2026. 10. 31.</a:t>
            </a:r>
          </a:p>
        </p:txBody>
      </p:sp>
    </p:spTree>
    <p:extLst>
      <p:ext uri="{BB962C8B-B14F-4D97-AF65-F5344CB8AC3E}">
        <p14:creationId xmlns:p14="http://schemas.microsoft.com/office/powerpoint/2010/main" val="18114319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C776A79D-79C2-4343-94D4-F2C75616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안내에 사용하는 예시</a:t>
            </a:r>
          </a:p>
        </p:txBody>
      </p:sp>
      <p:sp>
        <p:nvSpPr>
          <p:cNvPr id="2" name="text-7">
            <a:extLst xmlns:a="http://schemas.openxmlformats.org/drawingml/2006/main">
              <a:ext uri="{FF2B5EF4-FFF2-40B4-BE49-F238E27FC236}">
                <a16:creationId xmlns:a16="http://schemas.microsoft.com/office/drawing/2014/main" id="{5E7FA661-6E1F-4577-A699-A7791E3D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3" name="text-8">
            <a:extLst xmlns:a="http://schemas.openxmlformats.org/drawingml/2006/main">
              <a:ext uri="{FF2B5EF4-FFF2-40B4-BE49-F238E27FC236}">
                <a16:creationId xmlns:a16="http://schemas.microsoft.com/office/drawing/2014/main" id="{17D61D7A-BCC9-4E7C-9AEB-E162968F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35DC1-C92D-42AA-BCCB-4617C100E694}"/>
              </a:ext>
            </a:extLst>
          </p:cNvPr>
          <p:cNvGraphicFramePr/>
          <p:nvPr/>
        </p:nvGraphicFramePr>
        <p:xfrm>
          <a:off xmlns:a="http://schemas.openxmlformats.org/drawingml/2006/main" x="571500" y="1400175"/>
          <a:ext xmlns:a="http://schemas.openxmlformats.org/drawingml/2006/main" cx="12573000" cy="2552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57750"/>
                <a:gridCol w="3333750"/>
                <a:gridCol w="4381500"/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심사부서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이름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역할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생활용품심사과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김민준(가명)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심사관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생활용품심사과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이서연(가명)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담당자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가전제품심사과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박지훈(가명)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심사관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9">
            <a:extLst xmlns:a="http://schemas.openxmlformats.org/drawingml/2006/main">
              <a:ext uri="{FF2B5EF4-FFF2-40B4-BE49-F238E27FC236}">
                <a16:creationId xmlns:a16="http://schemas.microsoft.com/office/drawing/2014/main" id="{FE22AFBD-796D-4AAA-9AA0-E3C522A4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62450"/>
            <a:ext cx="1257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공개된 한국 출원번호</a:t>
            </a:r>
          </a:p>
        </p:txBody>
      </p:sp>
      <p:sp>
        <p:nvSpPr>
          <p:cNvPr id="6" name="text-10">
            <a:extLst xmlns:a="http://schemas.openxmlformats.org/drawingml/2006/main">
              <a:ext uri="{FF2B5EF4-FFF2-40B4-BE49-F238E27FC236}">
                <a16:creationId xmlns:a16="http://schemas.microsoft.com/office/drawing/2014/main" id="{C38184C5-00B3-40B4-B9AA-38CEADC1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81575"/>
            <a:ext cx="12573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10-2021-0013789   알루미늄 조립식 가구</a:t>
            </a:r>
          </a:p>
          <a:p xmlns:a="http://schemas.openxmlformats.org/drawingml/2006/main">
            <a:pPr>
              <a:buNone/>
              <a:def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10-2020-0093844   의류처리장치</a:t>
            </a:r>
          </a:p>
        </p:txBody>
      </p:sp>
      <p:sp>
        <p:nvSpPr>
          <p:cNvPr id="7" name="text-11">
            <a:extLst xmlns:a="http://schemas.openxmlformats.org/drawingml/2006/main">
              <a:ext uri="{FF2B5EF4-FFF2-40B4-BE49-F238E27FC236}">
                <a16:creationId xmlns:a16="http://schemas.microsoft.com/office/drawing/2014/main" id="{8ABFF983-975E-43E3-B833-EC950214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43675"/>
            <a:ext cx="1257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인물·담당 배정·입력 결과·평가는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1859377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1">
            <a:extLst xmlns:a="http://schemas.openxmlformats.org/drawingml/2006/main">
              <a:ext uri="{FF2B5EF4-FFF2-40B4-BE49-F238E27FC236}">
                <a16:creationId xmlns:a16="http://schemas.microsoft.com/office/drawing/2014/main" id="{57645161-6F65-49C8-A99B-C3F3E63F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사용자 선택</a:t>
            </a:r>
          </a:p>
        </p:txBody>
      </p:sp>
      <p:sp>
        <p:nvSpPr>
          <p:cNvPr id="2" name="capture-text-2">
            <a:extLst xmlns:a="http://schemas.openxmlformats.org/drawingml/2006/main">
              <a:ext uri="{FF2B5EF4-FFF2-40B4-BE49-F238E27FC236}">
                <a16:creationId xmlns:a16="http://schemas.microsoft.com/office/drawing/2014/main" id="{FF359002-D609-4AB6-8EDC-C0E0B7AC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기획국에 접속해 본인의 심사과와 이름을 선택합니다.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AI 담당자도 같은 목록에서 본인을 선택합니다.</a:t>
            </a:r>
          </a:p>
        </p:txBody>
      </p:sp>
      <p:sp>
        <p:nvSpPr>
          <p:cNvPr id="3" name="capture-text-3">
            <a:extLst xmlns:a="http://schemas.openxmlformats.org/drawingml/2006/main">
              <a:ext uri="{FF2B5EF4-FFF2-40B4-BE49-F238E27FC236}">
                <a16:creationId xmlns:a16="http://schemas.microsoft.com/office/drawing/2014/main" id="{2A4885FA-9894-451C-85E7-FB216EE38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4">
            <a:extLst xmlns:a="http://schemas.openxmlformats.org/drawingml/2006/main">
              <a:ext uri="{FF2B5EF4-FFF2-40B4-BE49-F238E27FC236}">
                <a16:creationId xmlns:a16="http://schemas.microsoft.com/office/drawing/2014/main" id="{6B882800-D376-4CFD-BC7C-7C590CA8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18BD9-DEF8-4961-9980-18C45754B3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07619a078f4610"/>
          <a:srcRect xmlns:a="http://schemas.openxmlformats.org/drawingml/2006/main" l="11472" t="43936" r="12579" b="7797"/>
          <a:stretch xmlns:a="http://schemas.openxmlformats.org/drawingml/2006/main"/>
        </p:blipFill>
        <p:spPr>
          <a:xfrm xmlns:a="http://schemas.openxmlformats.org/drawingml/2006/main">
            <a:off x="996462" y="2143125"/>
            <a:ext cx="11723077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5">
            <a:extLst xmlns:a="http://schemas.openxmlformats.org/drawingml/2006/main">
              <a:ext uri="{FF2B5EF4-FFF2-40B4-BE49-F238E27FC236}">
                <a16:creationId xmlns:a16="http://schemas.microsoft.com/office/drawing/2014/main" id="{96810BE6-69C9-41BC-8D80-A4074F75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96100"/>
            <a:ext cx="1257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165CB8"/>
                </a:solidFill>
                <a:latin typeface="Malgun Gothic"/>
                <a:ea typeface="Malgun Gothic"/>
                <a:cs typeface="Malgun Gothic"/>
                <a:hlinkClick xmlns:r="http://schemas.openxmlformats.org/officeDocument/2006/relationships" r:id="Rba2afc00a1cd4525"/>
              </a:rPr>
              <a:t>https://patent-examiner-mvp.sohnjun96.workers.dev/기획국</a:t>
            </a:r>
          </a:p>
        </p:txBody>
      </p:sp>
    </p:spTree>
    <p:extLst>
      <p:ext uri="{BB962C8B-B14F-4D97-AF65-F5344CB8AC3E}">
        <p14:creationId xmlns:p14="http://schemas.microsoft.com/office/powerpoint/2010/main" val="1174523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6">
            <a:extLst xmlns:a="http://schemas.openxmlformats.org/drawingml/2006/main">
              <a:ext uri="{FF2B5EF4-FFF2-40B4-BE49-F238E27FC236}">
                <a16:creationId xmlns:a16="http://schemas.microsoft.com/office/drawing/2014/main" id="{D6DE3215-FC48-416C-9045-2FCCE5342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운영월과 진행 단계</a:t>
            </a:r>
          </a:p>
        </p:txBody>
      </p:sp>
      <p:sp>
        <p:nvSpPr>
          <p:cNvPr id="2" name="capture-text-7">
            <a:extLst xmlns:a="http://schemas.openxmlformats.org/drawingml/2006/main">
              <a:ext uri="{FF2B5EF4-FFF2-40B4-BE49-F238E27FC236}">
                <a16:creationId xmlns:a16="http://schemas.microsoft.com/office/drawing/2014/main" id="{7CB824B5-202B-4526-B7FC-61645B6D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업무 화면에서 운영월을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대상 건 선정·AI 검색 결과 입력·평가의 진행 상태를 확인합니다.</a:t>
            </a:r>
          </a:p>
        </p:txBody>
      </p:sp>
      <p:sp>
        <p:nvSpPr>
          <p:cNvPr id="3" name="capture-text-8">
            <a:extLst xmlns:a="http://schemas.openxmlformats.org/drawingml/2006/main">
              <a:ext uri="{FF2B5EF4-FFF2-40B4-BE49-F238E27FC236}">
                <a16:creationId xmlns:a16="http://schemas.microsoft.com/office/drawing/2014/main" id="{5B1995B3-B53B-46A6-A40A-505044DB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9">
            <a:extLst xmlns:a="http://schemas.openxmlformats.org/drawingml/2006/main">
              <a:ext uri="{FF2B5EF4-FFF2-40B4-BE49-F238E27FC236}">
                <a16:creationId xmlns:a16="http://schemas.microsoft.com/office/drawing/2014/main" id="{E9C627AC-69F9-46DA-A16E-D12B9DE3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A2219-6BDC-4217-B919-6BF59F69B0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c89cc23a548d6"/>
          <a:srcRect xmlns:a="http://schemas.openxmlformats.org/drawingml/2006/main" l="24525" t="2681" r="1899" b="65818"/>
          <a:stretch xmlns:a="http://schemas.openxmlformats.org/drawingml/2006/main"/>
        </p:blipFill>
        <p:spPr>
          <a:xfrm xmlns:a="http://schemas.openxmlformats.org/drawingml/2006/main">
            <a:off x="571500" y="2507226"/>
            <a:ext cx="12573000" cy="3177048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10">
            <a:extLst xmlns:a="http://schemas.openxmlformats.org/drawingml/2006/main">
              <a:ext uri="{FF2B5EF4-FFF2-40B4-BE49-F238E27FC236}">
                <a16:creationId xmlns:a16="http://schemas.microsoft.com/office/drawing/2014/main" id="{92A88592-746E-4B59-80C6-AA0DECBC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57950"/>
            <a:ext cx="1257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rPr>
              <a:t>입력이 막히면 관리자에게 해당 단계의 진행 여부를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2327265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11">
            <a:extLst xmlns:a="http://schemas.openxmlformats.org/drawingml/2006/main">
              <a:ext uri="{FF2B5EF4-FFF2-40B4-BE49-F238E27FC236}">
                <a16:creationId xmlns:a16="http://schemas.microsoft.com/office/drawing/2014/main" id="{81FD459A-96C7-471B-93CB-C0806DC8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심사관의 대상 출원 입력</a:t>
            </a:r>
          </a:p>
        </p:txBody>
      </p:sp>
      <p:sp>
        <p:nvSpPr>
          <p:cNvPr id="2" name="capture-text-12">
            <a:extLst xmlns:a="http://schemas.openxmlformats.org/drawingml/2006/main">
              <a:ext uri="{FF2B5EF4-FFF2-40B4-BE49-F238E27FC236}">
                <a16:creationId xmlns:a16="http://schemas.microsoft.com/office/drawing/2014/main" id="{57E6BF5B-810C-40CD-8CB6-21EEF2DA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출원 추가에서 출원번호·CPC·선행기술조사 보고서 유무를 입력합니다.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새 행은 추가, 기존 행을 고칠 때는 저장을 누릅니다.</a:t>
            </a:r>
          </a:p>
        </p:txBody>
      </p:sp>
      <p:sp>
        <p:nvSpPr>
          <p:cNvPr id="3" name="capture-text-13">
            <a:extLst xmlns:a="http://schemas.openxmlformats.org/drawingml/2006/main">
              <a:ext uri="{FF2B5EF4-FFF2-40B4-BE49-F238E27FC236}">
                <a16:creationId xmlns:a16="http://schemas.microsoft.com/office/drawing/2014/main" id="{F3FB2E60-A957-4A27-B89F-D97C5E94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14">
            <a:extLst xmlns:a="http://schemas.openxmlformats.org/drawingml/2006/main">
              <a:ext uri="{FF2B5EF4-FFF2-40B4-BE49-F238E27FC236}">
                <a16:creationId xmlns:a16="http://schemas.microsoft.com/office/drawing/2014/main" id="{56B43DD3-79B0-4847-9B9A-EE81F96A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73F0D4-5088-4206-B8AC-B0E6AD96BC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ead3daf3be4918"/>
          <a:srcRect xmlns:a="http://schemas.openxmlformats.org/drawingml/2006/main" l="24525" t="34881" r="1899" b="5836"/>
          <a:stretch xmlns:a="http://schemas.openxmlformats.org/drawingml/2006/main"/>
        </p:blipFill>
        <p:spPr>
          <a:xfrm xmlns:a="http://schemas.openxmlformats.org/drawingml/2006/main">
            <a:off x="1903721" y="2143125"/>
            <a:ext cx="9908557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15">
            <a:extLst xmlns:a="http://schemas.openxmlformats.org/drawingml/2006/main">
              <a:ext uri="{FF2B5EF4-FFF2-40B4-BE49-F238E27FC236}">
                <a16:creationId xmlns:a16="http://schemas.microsoft.com/office/drawing/2014/main" id="{B1A68164-49FC-4B1F-B878-2AAD0F7C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96100"/>
            <a:ext cx="1257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rPr>
              <a:t>출원번호 예시: 10 / 2021 / 0013789</a:t>
            </a:r>
          </a:p>
        </p:txBody>
      </p:sp>
    </p:spTree>
    <p:extLst>
      <p:ext uri="{BB962C8B-B14F-4D97-AF65-F5344CB8AC3E}">
        <p14:creationId xmlns:p14="http://schemas.microsoft.com/office/powerpoint/2010/main" val="6430132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pture-text-16">
            <a:extLst xmlns:a="http://schemas.openxmlformats.org/drawingml/2006/main">
              <a:ext uri="{FF2B5EF4-FFF2-40B4-BE49-F238E27FC236}">
                <a16:creationId xmlns:a16="http://schemas.microsoft.com/office/drawing/2014/main" id="{048242CF-A3C1-49AD-B5AD-0DE9E462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선정 확정 후 업무 목록</a:t>
            </a:r>
          </a:p>
        </p:txBody>
      </p:sp>
      <p:sp>
        <p:nvSpPr>
          <p:cNvPr id="2" name="capture-text-17">
            <a:extLst xmlns:a="http://schemas.openxmlformats.org/drawingml/2006/main">
              <a:ext uri="{FF2B5EF4-FFF2-40B4-BE49-F238E27FC236}">
                <a16:creationId xmlns:a16="http://schemas.microsoft.com/office/drawing/2014/main" id="{57B24D5C-A385-4AA6-84C7-3E6CE60C9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입력한 목록을 확인한 뒤 선정 확정을 누릅니다.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확정한 출원은 내 평가 대상 건에 표시됩니다.</a:t>
            </a:r>
          </a:p>
        </p:txBody>
      </p:sp>
      <p:sp>
        <p:nvSpPr>
          <p:cNvPr id="3" name="capture-text-18">
            <a:extLst xmlns:a="http://schemas.openxmlformats.org/drawingml/2006/main">
              <a:ext uri="{FF2B5EF4-FFF2-40B4-BE49-F238E27FC236}">
                <a16:creationId xmlns:a16="http://schemas.microsoft.com/office/drawing/2014/main" id="{244CE91D-6969-4B85-BCD1-9FC4DCD8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19">
            <a:extLst xmlns:a="http://schemas.openxmlformats.org/drawingml/2006/main">
              <a:ext uri="{FF2B5EF4-FFF2-40B4-BE49-F238E27FC236}">
                <a16:creationId xmlns:a16="http://schemas.microsoft.com/office/drawing/2014/main" id="{CB0CA190-69B2-4C8B-AB1E-C87305B7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931BAC-B33F-4808-9706-DF24BC5022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b92f7d9ec4b81"/>
          <a:srcRect xmlns:a="http://schemas.openxmlformats.org/drawingml/2006/main" l="24219" t="36806" r="2344" b="7639"/>
          <a:stretch xmlns:a="http://schemas.openxmlformats.org/drawingml/2006/main"/>
        </p:blipFill>
        <p:spPr>
          <a:xfrm xmlns:a="http://schemas.openxmlformats.org/drawingml/2006/main">
            <a:off x="1262063" y="2143125"/>
            <a:ext cx="11191875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9482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pture-text-20">
            <a:extLst xmlns:a="http://schemas.openxmlformats.org/drawingml/2006/main">
              <a:ext uri="{FF2B5EF4-FFF2-40B4-BE49-F238E27FC236}">
                <a16:creationId xmlns:a16="http://schemas.microsoft.com/office/drawing/2014/main" id="{050DD49E-F919-4EB5-B811-FE2B1EAA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AI 담당자의 의뢰 확인</a:t>
            </a:r>
          </a:p>
        </p:txBody>
      </p:sp>
      <p:sp>
        <p:nvSpPr>
          <p:cNvPr id="2" name="capture-text-21">
            <a:extLst xmlns:a="http://schemas.openxmlformats.org/drawingml/2006/main">
              <a:ext uri="{FF2B5EF4-FFF2-40B4-BE49-F238E27FC236}">
                <a16:creationId xmlns:a16="http://schemas.microsoft.com/office/drawing/2014/main" id="{B0842190-BFC6-4395-84C7-19244E0C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AI 담당 업무에서 출원번호와 담당 AI를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공개공보 PDF를 받아 외부 AI에서 검색한 뒤 결과를 입력합니다.</a:t>
            </a:r>
          </a:p>
        </p:txBody>
      </p:sp>
      <p:sp>
        <p:nvSpPr>
          <p:cNvPr id="3" name="capture-text-22">
            <a:extLst xmlns:a="http://schemas.openxmlformats.org/drawingml/2006/main">
              <a:ext uri="{FF2B5EF4-FFF2-40B4-BE49-F238E27FC236}">
                <a16:creationId xmlns:a16="http://schemas.microsoft.com/office/drawing/2014/main" id="{51F69C6F-89B3-4877-ACC5-5BBE6B1D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23">
            <a:extLst xmlns:a="http://schemas.openxmlformats.org/drawingml/2006/main">
              <a:ext uri="{FF2B5EF4-FFF2-40B4-BE49-F238E27FC236}">
                <a16:creationId xmlns:a16="http://schemas.microsoft.com/office/drawing/2014/main" id="{BFCB52E6-C09F-4F22-AAC3-BEBF19FA2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140CA7-2C06-4D45-A8F1-F1A373C62B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83fc777b7f4270"/>
          <a:srcRect xmlns:a="http://schemas.openxmlformats.org/drawingml/2006/main" l="24525" t="25194" r="1899" b="41376"/>
          <a:stretch xmlns:a="http://schemas.openxmlformats.org/drawingml/2006/main"/>
        </p:blipFill>
        <p:spPr>
          <a:xfrm xmlns:a="http://schemas.openxmlformats.org/drawingml/2006/main">
            <a:off x="571500" y="2192286"/>
            <a:ext cx="12573000" cy="466417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3348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24">
            <a:extLst xmlns:a="http://schemas.openxmlformats.org/drawingml/2006/main">
              <a:ext uri="{FF2B5EF4-FFF2-40B4-BE49-F238E27FC236}">
                <a16:creationId xmlns:a16="http://schemas.microsoft.com/office/drawing/2014/main" id="{1789826F-B675-46FA-B070-DE02A2FF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문헌 정보의 수동 입력</a:t>
            </a:r>
          </a:p>
        </p:txBody>
      </p:sp>
      <p:sp>
        <p:nvSpPr>
          <p:cNvPr id="2" name="capture-text-25">
            <a:extLst xmlns:a="http://schemas.openxmlformats.org/drawingml/2006/main">
              <a:ext uri="{FF2B5EF4-FFF2-40B4-BE49-F238E27FC236}">
                <a16:creationId xmlns:a16="http://schemas.microsoft.com/office/drawing/2014/main" id="{524C3E2F-ECD4-4796-B7F8-770BC202B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수동 추가에서 특허 또는 비특허문헌을 선택합니다.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문헌번호·원문 URL을 입력하고 심사관 화면 미리보기를 확인합니다.</a:t>
            </a:r>
          </a:p>
        </p:txBody>
      </p:sp>
      <p:sp>
        <p:nvSpPr>
          <p:cNvPr id="3" name="capture-text-26">
            <a:extLst xmlns:a="http://schemas.openxmlformats.org/drawingml/2006/main">
              <a:ext uri="{FF2B5EF4-FFF2-40B4-BE49-F238E27FC236}">
                <a16:creationId xmlns:a16="http://schemas.microsoft.com/office/drawing/2014/main" id="{94741C26-A9CF-46AB-A272-3BDCCED6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27">
            <a:extLst xmlns:a="http://schemas.openxmlformats.org/drawingml/2006/main">
              <a:ext uri="{FF2B5EF4-FFF2-40B4-BE49-F238E27FC236}">
                <a16:creationId xmlns:a16="http://schemas.microsoft.com/office/drawing/2014/main" id="{0BA804E1-597A-4023-A833-BDBD51FB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839ACE-55E4-4A3F-8061-2015622D97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6bd21609b04815"/>
          <a:srcRect xmlns:a="http://schemas.openxmlformats.org/drawingml/2006/main" l="17009" t="21061" r="1503" b="44618"/>
          <a:stretch xmlns:a="http://schemas.openxmlformats.org/drawingml/2006/main"/>
        </p:blipFill>
        <p:spPr>
          <a:xfrm xmlns:a="http://schemas.openxmlformats.org/drawingml/2006/main">
            <a:off x="1283710" y="2143125"/>
            <a:ext cx="11148580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28">
            <a:extLst xmlns:a="http://schemas.openxmlformats.org/drawingml/2006/main">
              <a:ext uri="{FF2B5EF4-FFF2-40B4-BE49-F238E27FC236}">
                <a16:creationId xmlns:a16="http://schemas.microsoft.com/office/drawing/2014/main" id="{67068DB8-87AC-40DE-8841-4AC8801D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96100"/>
            <a:ext cx="1257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rPr>
              <a:t>문헌번호 형식 예시: KR20050058524A    출원·AI별 최대 7문헌</a:t>
            </a:r>
          </a:p>
        </p:txBody>
      </p:sp>
    </p:spTree>
    <p:extLst>
      <p:ext uri="{BB962C8B-B14F-4D97-AF65-F5344CB8AC3E}">
        <p14:creationId xmlns:p14="http://schemas.microsoft.com/office/powerpoint/2010/main" val="5581581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pture-text-29">
            <a:extLst xmlns:a="http://schemas.openxmlformats.org/drawingml/2006/main">
              <a:ext uri="{FF2B5EF4-FFF2-40B4-BE49-F238E27FC236}">
                <a16:creationId xmlns:a16="http://schemas.microsoft.com/office/drawing/2014/main" id="{3033C351-C8E2-4A27-B68F-47FA5027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포맷팅 프롬프트 복사</a:t>
            </a:r>
          </a:p>
        </p:txBody>
      </p:sp>
      <p:sp>
        <p:nvSpPr>
          <p:cNvPr id="2" name="capture-text-30">
            <a:extLst xmlns:a="http://schemas.openxmlformats.org/drawingml/2006/main">
              <a:ext uri="{FF2B5EF4-FFF2-40B4-BE49-F238E27FC236}">
                <a16:creationId xmlns:a16="http://schemas.microsoft.com/office/drawing/2014/main" id="{B67658D6-8D27-42E4-98A3-CEE2FE85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포맷팅 프롬프트를 펼치고 프롬프트 복사를 누릅니다.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외부 AI에 전달해 검색 결과의 JSON 형식을 맞춥니다.</a:t>
            </a:r>
          </a:p>
        </p:txBody>
      </p:sp>
      <p:sp>
        <p:nvSpPr>
          <p:cNvPr id="3" name="capture-text-31">
            <a:extLst xmlns:a="http://schemas.openxmlformats.org/drawingml/2006/main">
              <a:ext uri="{FF2B5EF4-FFF2-40B4-BE49-F238E27FC236}">
                <a16:creationId xmlns:a16="http://schemas.microsoft.com/office/drawing/2014/main" id="{CADA289F-D313-4790-B6BE-8DB688A2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32">
            <a:extLst xmlns:a="http://schemas.openxmlformats.org/drawingml/2006/main">
              <a:ext uri="{FF2B5EF4-FFF2-40B4-BE49-F238E27FC236}">
                <a16:creationId xmlns:a16="http://schemas.microsoft.com/office/drawing/2014/main" id="{7B2FE562-71F8-47AE-BF5B-7E5CC69B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AC1E37-D067-41A6-9FEE-45A24233BC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faa1ce9c04456"/>
          <a:srcRect xmlns:a="http://schemas.openxmlformats.org/drawingml/2006/main" l="17009" t="11834" r="1503" b="60651"/>
          <a:stretch xmlns:a="http://schemas.openxmlformats.org/drawingml/2006/main"/>
        </p:blipFill>
        <p:spPr>
          <a:xfrm xmlns:a="http://schemas.openxmlformats.org/drawingml/2006/main">
            <a:off x="1583403" y="2143125"/>
            <a:ext cx="10549194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71155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pture-text-33">
            <a:extLst xmlns:a="http://schemas.openxmlformats.org/drawingml/2006/main">
              <a:ext uri="{FF2B5EF4-FFF2-40B4-BE49-F238E27FC236}">
                <a16:creationId xmlns:a16="http://schemas.microsoft.com/office/drawing/2014/main" id="{309EAF48-393F-4E61-B0B9-3ED3BAC8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JSON으로 문헌 자동 추가</a:t>
            </a:r>
          </a:p>
        </p:txBody>
      </p:sp>
      <p:sp>
        <p:nvSpPr>
          <p:cNvPr id="2" name="capture-text-34">
            <a:extLst xmlns:a="http://schemas.openxmlformats.org/drawingml/2006/main">
              <a:ext uri="{FF2B5EF4-FFF2-40B4-BE49-F238E27FC236}">
                <a16:creationId xmlns:a16="http://schemas.microsoft.com/office/drawing/2014/main" id="{065A46B4-B397-49E0-8000-A0B35A2C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자동 추가에 JSON을 붙여 넣고 추가할 문헌 미리보기를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기존 목록에 N문헌 추가를 눌러 문헌 목록에 반영합니다.</a:t>
            </a:r>
          </a:p>
        </p:txBody>
      </p:sp>
      <p:sp>
        <p:nvSpPr>
          <p:cNvPr id="3" name="capture-text-35">
            <a:extLst xmlns:a="http://schemas.openxmlformats.org/drawingml/2006/main">
              <a:ext uri="{FF2B5EF4-FFF2-40B4-BE49-F238E27FC236}">
                <a16:creationId xmlns:a16="http://schemas.microsoft.com/office/drawing/2014/main" id="{130C9652-E229-4280-B705-AD082A81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36">
            <a:extLst xmlns:a="http://schemas.openxmlformats.org/drawingml/2006/main">
              <a:ext uri="{FF2B5EF4-FFF2-40B4-BE49-F238E27FC236}">
                <a16:creationId xmlns:a16="http://schemas.microsoft.com/office/drawing/2014/main" id="{DA4F0D60-A5FB-40BB-BE84-EA64DC76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A665E8-B7A6-4193-BBFD-884C6A92455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3553191864907"/>
          <a:srcRect xmlns:a="http://schemas.openxmlformats.org/drawingml/2006/main" l="17009" t="28361" r="1503" b="10189"/>
          <a:stretch xmlns:a="http://schemas.openxmlformats.org/drawingml/2006/main"/>
        </p:blipFill>
        <p:spPr>
          <a:xfrm xmlns:a="http://schemas.openxmlformats.org/drawingml/2006/main">
            <a:off x="2665372" y="2143125"/>
            <a:ext cx="8385256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177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apture-text-37">
            <a:extLst xmlns:a="http://schemas.openxmlformats.org/drawingml/2006/main">
              <a:ext uri="{FF2B5EF4-FFF2-40B4-BE49-F238E27FC236}">
                <a16:creationId xmlns:a16="http://schemas.microsoft.com/office/drawing/2014/main" id="{C6B46CC8-99D6-405C-8843-B1F49D06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보고서 확인과 입력 완료</a:t>
            </a:r>
          </a:p>
        </p:txBody>
      </p:sp>
      <p:sp>
        <p:nvSpPr>
          <p:cNvPr id="2" name="capture-text-38">
            <a:extLst xmlns:a="http://schemas.openxmlformats.org/drawingml/2006/main">
              <a:ext uri="{FF2B5EF4-FFF2-40B4-BE49-F238E27FC236}">
                <a16:creationId xmlns:a16="http://schemas.microsoft.com/office/drawing/2014/main" id="{020B70CC-F61C-4C03-ABBD-B1740336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문헌별 보고서를 입력하고 오른쪽 미리보기를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자동 저장됨을 확인한 뒤 입력 완료를 눌러 심사관에게 공개합니다.</a:t>
            </a:r>
          </a:p>
        </p:txBody>
      </p:sp>
      <p:sp>
        <p:nvSpPr>
          <p:cNvPr id="3" name="capture-text-39">
            <a:extLst xmlns:a="http://schemas.openxmlformats.org/drawingml/2006/main">
              <a:ext uri="{FF2B5EF4-FFF2-40B4-BE49-F238E27FC236}">
                <a16:creationId xmlns:a16="http://schemas.microsoft.com/office/drawing/2014/main" id="{2534A8B3-5E05-4B1C-9E30-E55D9661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40">
            <a:extLst xmlns:a="http://schemas.openxmlformats.org/drawingml/2006/main">
              <a:ext uri="{FF2B5EF4-FFF2-40B4-BE49-F238E27FC236}">
                <a16:creationId xmlns:a16="http://schemas.microsoft.com/office/drawing/2014/main" id="{9137E73F-7B54-45A9-97AC-C77053AE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EDA84-1D9E-4E32-BAED-F4DD7BDC87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c86d5c3f0a44cc"/>
          <a:srcRect xmlns:a="http://schemas.openxmlformats.org/drawingml/2006/main" l="17801" t="51482" r="44225" b="18097"/>
          <a:stretch xmlns:a="http://schemas.openxmlformats.org/drawingml/2006/main"/>
        </p:blipFill>
        <p:spPr>
          <a:xfrm xmlns:a="http://schemas.openxmlformats.org/drawingml/2006/main">
            <a:off x="1227260" y="2143125"/>
            <a:ext cx="4689231" cy="381000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8A425-CFAC-4D11-8117-30E3262BC3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8e566b7194bfa"/>
          <a:srcRect xmlns:a="http://schemas.openxmlformats.org/drawingml/2006/main" l="56962" t="24181" r="1899" b="48518"/>
          <a:stretch xmlns:a="http://schemas.openxmlformats.org/drawingml/2006/main"/>
        </p:blipFill>
        <p:spPr>
          <a:xfrm xmlns:a="http://schemas.openxmlformats.org/drawingml/2006/main">
            <a:off x="7313839" y="2143125"/>
            <a:ext cx="5660571" cy="381000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A93014-3884-4719-AFB7-75497FCE08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01eddd7af4958"/>
          <a:srcRect xmlns:a="http://schemas.openxmlformats.org/drawingml/2006/main" l="0" t="93760" r="0" b="0"/>
          <a:stretch xmlns:a="http://schemas.openxmlformats.org/drawingml/2006/main"/>
        </p:blipFill>
        <p:spPr>
          <a:xfrm xmlns:a="http://schemas.openxmlformats.org/drawingml/2006/main">
            <a:off x="571500" y="6193420"/>
            <a:ext cx="12573000" cy="79575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096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41">
            <a:extLst xmlns:a="http://schemas.openxmlformats.org/drawingml/2006/main">
              <a:ext uri="{FF2B5EF4-FFF2-40B4-BE49-F238E27FC236}">
                <a16:creationId xmlns:a16="http://schemas.microsoft.com/office/drawing/2014/main" id="{89E41A29-536C-4237-94ED-A00952B54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AI 결과 공개 완료 확인</a:t>
            </a:r>
          </a:p>
        </p:txBody>
      </p:sp>
      <p:sp>
        <p:nvSpPr>
          <p:cNvPr id="2" name="capture-text-42">
            <a:extLst xmlns:a="http://schemas.openxmlformats.org/drawingml/2006/main">
              <a:ext uri="{FF2B5EF4-FFF2-40B4-BE49-F238E27FC236}">
                <a16:creationId xmlns:a16="http://schemas.microsoft.com/office/drawing/2014/main" id="{1B9A7B40-FC93-4833-A481-5AA2EB2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AI 담당 업무로 돌아와 해당 업무의 입력 완료 표시를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공개한 문헌은 심사관의 평가 화면에 나타납니다.</a:t>
            </a:r>
          </a:p>
        </p:txBody>
      </p:sp>
      <p:sp>
        <p:nvSpPr>
          <p:cNvPr id="3" name="capture-text-43">
            <a:extLst xmlns:a="http://schemas.openxmlformats.org/drawingml/2006/main">
              <a:ext uri="{FF2B5EF4-FFF2-40B4-BE49-F238E27FC236}">
                <a16:creationId xmlns:a16="http://schemas.microsoft.com/office/drawing/2014/main" id="{B5F91A44-AC3D-49E0-9C0E-DA3CB066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44">
            <a:extLst xmlns:a="http://schemas.openxmlformats.org/drawingml/2006/main">
              <a:ext uri="{FF2B5EF4-FFF2-40B4-BE49-F238E27FC236}">
                <a16:creationId xmlns:a16="http://schemas.microsoft.com/office/drawing/2014/main" id="{39B94FB2-6F8E-4592-A4C8-D8244200E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8B0D3-41B9-46C0-AA59-41538DFC3E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c2c0de0d94b57"/>
          <a:srcRect xmlns:a="http://schemas.openxmlformats.org/drawingml/2006/main" l="24525" t="31977" r="1899" b="41376"/>
          <a:stretch xmlns:a="http://schemas.openxmlformats.org/drawingml/2006/main"/>
        </p:blipFill>
        <p:spPr>
          <a:xfrm xmlns:a="http://schemas.openxmlformats.org/drawingml/2006/main">
            <a:off x="571500" y="2665464"/>
            <a:ext cx="12573000" cy="3717823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45">
            <a:extLst xmlns:a="http://schemas.openxmlformats.org/drawingml/2006/main">
              <a:ext uri="{FF2B5EF4-FFF2-40B4-BE49-F238E27FC236}">
                <a16:creationId xmlns:a16="http://schemas.microsoft.com/office/drawing/2014/main" id="{9A4B0223-71EE-4895-80CD-2A38E323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96100"/>
            <a:ext cx="1257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rPr>
              <a:t>자동 저장은 초안 보관, 입력 완료는 결과 공개입니다.</a:t>
            </a:r>
          </a:p>
        </p:txBody>
      </p:sp>
    </p:spTree>
    <p:extLst>
      <p:ext uri="{BB962C8B-B14F-4D97-AF65-F5344CB8AC3E}">
        <p14:creationId xmlns:p14="http://schemas.microsoft.com/office/powerpoint/2010/main" val="9728543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apture-text-46">
            <a:extLst xmlns:a="http://schemas.openxmlformats.org/drawingml/2006/main">
              <a:ext uri="{FF2B5EF4-FFF2-40B4-BE49-F238E27FC236}">
                <a16:creationId xmlns:a16="http://schemas.microsoft.com/office/drawing/2014/main" id="{19F78A50-AE7F-4C86-A04C-AE77F93D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심사관의 문헌 점수와 인용 여부</a:t>
            </a:r>
          </a:p>
        </p:txBody>
      </p:sp>
      <p:sp>
        <p:nvSpPr>
          <p:cNvPr id="2" name="capture-text-47">
            <a:extLst xmlns:a="http://schemas.openxmlformats.org/drawingml/2006/main">
              <a:ext uri="{FF2B5EF4-FFF2-40B4-BE49-F238E27FC236}">
                <a16:creationId xmlns:a16="http://schemas.microsoft.com/office/drawing/2014/main" id="{C8983E05-7398-485A-A373-DE8B6678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내 평가 대상 건에서 평가 입력을 눌러 문헌을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점수 0~5점과 인용 O·미인용 X를 기록한 뒤 평가 결과 보기를 누릅니다.</a:t>
            </a:r>
          </a:p>
        </p:txBody>
      </p:sp>
      <p:sp>
        <p:nvSpPr>
          <p:cNvPr id="3" name="capture-text-48">
            <a:extLst xmlns:a="http://schemas.openxmlformats.org/drawingml/2006/main">
              <a:ext uri="{FF2B5EF4-FFF2-40B4-BE49-F238E27FC236}">
                <a16:creationId xmlns:a16="http://schemas.microsoft.com/office/drawing/2014/main" id="{E084CB40-969B-4EBE-BD7D-9C30B253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49">
            <a:extLst xmlns:a="http://schemas.openxmlformats.org/drawingml/2006/main">
              <a:ext uri="{FF2B5EF4-FFF2-40B4-BE49-F238E27FC236}">
                <a16:creationId xmlns:a16="http://schemas.microsoft.com/office/drawing/2014/main" id="{465CA1F8-D339-4D10-BAA3-A441E2D5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40AB7-137B-40DB-8031-E56DA56C448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6c5fa30354336"/>
          <a:srcRect xmlns:a="http://schemas.openxmlformats.org/drawingml/2006/main" l="1172" t="25694" r="1172" b="1389"/>
          <a:stretch xmlns:a="http://schemas.openxmlformats.org/drawingml/2006/main"/>
        </p:blipFill>
        <p:spPr>
          <a:xfrm xmlns:a="http://schemas.openxmlformats.org/drawingml/2006/main">
            <a:off x="1188357" y="2143125"/>
            <a:ext cx="11339286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0825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pture-text-50">
            <a:extLst xmlns:a="http://schemas.openxmlformats.org/drawingml/2006/main">
              <a:ext uri="{FF2B5EF4-FFF2-40B4-BE49-F238E27FC236}">
                <a16:creationId xmlns:a16="http://schemas.microsoft.com/office/drawing/2014/main" id="{05FAD258-9EEA-42D5-9DB1-3CA07EE1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검색 품질 순위와 평가 종료</a:t>
            </a:r>
          </a:p>
        </p:txBody>
      </p:sp>
      <p:sp>
        <p:nvSpPr>
          <p:cNvPr id="2" name="capture-text-51">
            <a:extLst xmlns:a="http://schemas.openxmlformats.org/drawingml/2006/main">
              <a:ext uri="{FF2B5EF4-FFF2-40B4-BE49-F238E27FC236}">
                <a16:creationId xmlns:a16="http://schemas.microsoft.com/office/drawing/2014/main" id="{B8D12CED-9710-4FB8-91BA-8425C218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조사 방식별 검색 품질 순위를 입력합니다. 동순위는 허용하지 않습니다.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모든 문헌 평가와 순위 입력을 마치면 평가 종료를 누릅니다.</a:t>
            </a:r>
          </a:p>
        </p:txBody>
      </p:sp>
      <p:sp>
        <p:nvSpPr>
          <p:cNvPr id="3" name="capture-text-52">
            <a:extLst xmlns:a="http://schemas.openxmlformats.org/drawingml/2006/main">
              <a:ext uri="{FF2B5EF4-FFF2-40B4-BE49-F238E27FC236}">
                <a16:creationId xmlns:a16="http://schemas.microsoft.com/office/drawing/2014/main" id="{04665614-CF68-4F13-BC79-6E097C80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53">
            <a:extLst xmlns:a="http://schemas.openxmlformats.org/drawingml/2006/main">
              <a:ext uri="{FF2B5EF4-FFF2-40B4-BE49-F238E27FC236}">
                <a16:creationId xmlns:a16="http://schemas.microsoft.com/office/drawing/2014/main" id="{FFB9A72F-5141-49AC-A08B-5A9E32177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2B4FC0-952E-42FC-9086-73F91B4D24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bcdfa5c964151"/>
          <a:srcRect xmlns:a="http://schemas.openxmlformats.org/drawingml/2006/main" l="1582" t="50781" r="1582" b="27951"/>
          <a:stretch xmlns:a="http://schemas.openxmlformats.org/drawingml/2006/main"/>
        </p:blipFill>
        <p:spPr>
          <a:xfrm xmlns:a="http://schemas.openxmlformats.org/drawingml/2006/main">
            <a:off x="571500" y="2361173"/>
            <a:ext cx="12573000" cy="2516654"/>
          </a:xfrm>
          <a:prstGeom xmlns:a="http://schemas.openxmlformats.org/drawingml/2006/main" prst="rect">
            <a:avLst/>
          </a:prstGeom>
        </p:spPr>
      </p:pic>
      <p:sp>
        <p:nvSpPr>
          <p:cNvPr id="6" name="capture-text-54">
            <a:extLst xmlns:a="http://schemas.openxmlformats.org/drawingml/2006/main">
              <a:ext uri="{FF2B5EF4-FFF2-40B4-BE49-F238E27FC236}">
                <a16:creationId xmlns:a16="http://schemas.microsoft.com/office/drawing/2014/main" id="{9AD2F96B-C6F8-4B0B-9968-F469461F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257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65CB8"/>
                </a:solidFill>
                <a:latin typeface="Malgun Gothic"/>
                <a:ea typeface="Malgun Gothic"/>
                <a:cs typeface="Malgun Gothic"/>
              </a:rPr>
              <a:t>보고서 있음: 보고서와 함께 비교    보고서 없음: AI 방식끼리 비교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841D0-A8F4-4477-AF17-3A48DC6843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8260dce7949e5"/>
          <a:srcRect xmlns:a="http://schemas.openxmlformats.org/drawingml/2006/main" l="0" t="93316" r="0" b="0"/>
          <a:stretch xmlns:a="http://schemas.openxmlformats.org/drawingml/2006/main"/>
        </p:blipFill>
        <p:spPr>
          <a:xfrm xmlns:a="http://schemas.openxmlformats.org/drawingml/2006/main">
            <a:off x="571500" y="6084516"/>
            <a:ext cx="12573000" cy="765919"/>
          </a:xfrm>
          <a:prstGeom xmlns:a="http://schemas.openxmlformats.org/drawingml/2006/main" prst="rect">
            <a:avLst/>
          </a:prstGeom>
        </p:spPr>
      </p:pic>
      <p:sp>
        <p:nvSpPr>
          <p:cNvPr id="8" name="capture-text-55">
            <a:extLst xmlns:a="http://schemas.openxmlformats.org/drawingml/2006/main">
              <a:ext uri="{FF2B5EF4-FFF2-40B4-BE49-F238E27FC236}">
                <a16:creationId xmlns:a16="http://schemas.microsoft.com/office/drawing/2014/main" id="{B492C1C3-C8F6-49AF-BC6E-D2D04F18B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96100"/>
            <a:ext cx="1257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1개는 비교 불가, 4개 이상은 상위 3개 외에 순위 외를 선택합니다.</a:t>
            </a:r>
          </a:p>
        </p:txBody>
      </p:sp>
    </p:spTree>
    <p:extLst>
      <p:ext uri="{BB962C8B-B14F-4D97-AF65-F5344CB8AC3E}">
        <p14:creationId xmlns:p14="http://schemas.microsoft.com/office/powerpoint/2010/main" val="194699007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apture-text-56">
            <a:extLst xmlns:a="http://schemas.openxmlformats.org/drawingml/2006/main">
              <a:ext uri="{FF2B5EF4-FFF2-40B4-BE49-F238E27FC236}">
                <a16:creationId xmlns:a16="http://schemas.microsoft.com/office/drawing/2014/main" id="{E6C38377-80AE-4993-B022-996BDC47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평가 완료 상태 확인</a:t>
            </a:r>
          </a:p>
        </p:txBody>
      </p:sp>
      <p:sp>
        <p:nvSpPr>
          <p:cNvPr id="2" name="capture-text-57">
            <a:extLst xmlns:a="http://schemas.openxmlformats.org/drawingml/2006/main">
              <a:ext uri="{FF2B5EF4-FFF2-40B4-BE49-F238E27FC236}">
                <a16:creationId xmlns:a16="http://schemas.microsoft.com/office/drawing/2014/main" id="{FA495C74-E1CD-4148-976E-033EE306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76350"/>
            <a:ext cx="1257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평가가 종료되었습니다와 최종 평가 완료 표시를 확인합니다.</a:t>
            </a:r>
          </a:p>
          <a:p xmlns:a="http://schemas.openxmlformats.org/drawingml/2006/main">
            <a:pPr>
              <a:def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평가 단계가 진행 중이면 평가 수정으로 다시 편집할 수 있습니다.</a:t>
            </a:r>
          </a:p>
        </p:txBody>
      </p:sp>
      <p:sp>
        <p:nvSpPr>
          <p:cNvPr id="3" name="capture-text-58">
            <a:extLst xmlns:a="http://schemas.openxmlformats.org/drawingml/2006/main">
              <a:ext uri="{FF2B5EF4-FFF2-40B4-BE49-F238E27FC236}">
                <a16:creationId xmlns:a16="http://schemas.microsoft.com/office/drawing/2014/main" id="{0D2BEC05-B2B5-4551-8D01-32FD2531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4" name="capture-text-59">
            <a:extLst xmlns:a="http://schemas.openxmlformats.org/drawingml/2006/main">
              <a:ext uri="{FF2B5EF4-FFF2-40B4-BE49-F238E27FC236}">
                <a16:creationId xmlns:a16="http://schemas.microsoft.com/office/drawing/2014/main" id="{18A3CB14-86B2-4508-9E32-4EAD2DF9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850D35-4530-4A00-90DC-6ABC134821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8665d098e4f4f"/>
          <a:srcRect xmlns:a="http://schemas.openxmlformats.org/drawingml/2006/main" l="1582" t="16221" r="1582" b="47283"/>
          <a:stretch xmlns:a="http://schemas.openxmlformats.org/drawingml/2006/main"/>
        </p:blipFill>
        <p:spPr>
          <a:xfrm xmlns:a="http://schemas.openxmlformats.org/drawingml/2006/main">
            <a:off x="1028700" y="2143125"/>
            <a:ext cx="11658600" cy="42862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9BF5B-4EA7-4CA6-B824-EE04193210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7f29975a5546bc"/>
          <a:srcRect xmlns:a="http://schemas.openxmlformats.org/drawingml/2006/main" l="0" t="93593" r="0" b="0"/>
          <a:stretch xmlns:a="http://schemas.openxmlformats.org/drawingml/2006/main"/>
        </p:blipFill>
        <p:spPr>
          <a:xfrm xmlns:a="http://schemas.openxmlformats.org/drawingml/2006/main">
            <a:off x="571500" y="6193631"/>
            <a:ext cx="12573000" cy="78581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9624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84">
            <a:extLst xmlns:a="http://schemas.openxmlformats.org/drawingml/2006/main">
              <a:ext uri="{FF2B5EF4-FFF2-40B4-BE49-F238E27FC236}">
                <a16:creationId xmlns:a16="http://schemas.microsoft.com/office/drawing/2014/main" id="{49ADFEE4-8BC7-4E22-A1B0-2E50ED90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7675"/>
            <a:ext cx="1257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완료 상태와 수정 방법</a:t>
            </a:r>
          </a:p>
        </p:txBody>
      </p:sp>
      <p:sp>
        <p:nvSpPr>
          <p:cNvPr id="2" name="text-85">
            <a:extLst xmlns:a="http://schemas.openxmlformats.org/drawingml/2006/main">
              <a:ext uri="{FF2B5EF4-FFF2-40B4-BE49-F238E27FC236}">
                <a16:creationId xmlns:a16="http://schemas.microsoft.com/office/drawing/2014/main" id="{F39D1A25-FDAE-43F2-AAA3-73C14B09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7286625"/>
            <a:ext cx="1076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기획국 사용 안내 · 교육용 예시</a:t>
            </a:r>
          </a:p>
        </p:txBody>
      </p:sp>
      <p:sp>
        <p:nvSpPr>
          <p:cNvPr id="3" name="text-86">
            <a:extLst xmlns:a="http://schemas.openxmlformats.org/drawingml/2006/main">
              <a:ext uri="{FF2B5EF4-FFF2-40B4-BE49-F238E27FC236}">
                <a16:creationId xmlns:a16="http://schemas.microsoft.com/office/drawing/2014/main" id="{7F113C38-5C28-4D97-8735-D7270AA1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7248525"/>
            <a:ext cx="762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buNone/>
              <a:def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B90EA-ED6B-4351-B932-B386CAF26100}"/>
              </a:ext>
            </a:extLst>
          </p:cNvPr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25730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762250"/>
                <a:gridCol w="561975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완료 버튼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완료 후 확인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T w="9525">
                      <a:solidFill>
                        <a:srgbClr val="CFD9E4"/>
                      </a:solidFill>
                      <a:prstDash val="solid"/>
                    </a:lnT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132F50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심사관의 대상 선정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선정 확정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확정한 목록을 AI 담당자가 확인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담당자의 결과 입력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입력 완료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공개한 문헌을 심사관이 평가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심사관의 평가</a:t>
                      </a:r>
                    </a:p>
                  </a:txBody>
                  <a:tcPr marL="152400" marR="152400" marT="114300" marB="114300" anchor="ctr">
                    <a:lnL w="9525">
                      <a:solidFill>
                        <a:srgbClr val="CFD9E4"/>
                      </a:solidFill>
                      <a:prstDash val="solid"/>
                    </a:lnL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평가 종료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52B41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 업무 목록의 완료 상태 확인</a:t>
                      </a:r>
                    </a:p>
                  </a:txBody>
                  <a:tcPr marL="152400" marR="152400" marT="114300" marB="114300" anchor="ctr">
                    <a:lnR w="9525">
                      <a:solidFill>
                        <a:srgbClr val="CFD9E4"/>
                      </a:solidFill>
                      <a:prstDash val="solid"/>
                    </a:lnR>
                    <a:lnB w="9525">
                      <a:solidFill>
                        <a:srgbClr val="CFD9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87">
            <a:extLst xmlns:a="http://schemas.openxmlformats.org/drawingml/2006/main">
              <a:ext uri="{FF2B5EF4-FFF2-40B4-BE49-F238E27FC236}">
                <a16:creationId xmlns:a16="http://schemas.microsoft.com/office/drawing/2014/main" id="{77E141C8-4270-4C7C-A784-099EFDB2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1257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32F50"/>
                </a:solidFill>
                <a:latin typeface="Malgun Gothic"/>
                <a:ea typeface="Malgun Gothic"/>
                <a:cs typeface="Malgun Gothic"/>
              </a:rPr>
              <a:t>작업이 막힐 때</a:t>
            </a:r>
          </a:p>
        </p:txBody>
      </p:sp>
      <p:sp>
        <p:nvSpPr>
          <p:cNvPr id="6" name="text-88">
            <a:extLst xmlns:a="http://schemas.openxmlformats.org/drawingml/2006/main">
              <a:ext uri="{FF2B5EF4-FFF2-40B4-BE49-F238E27FC236}">
                <a16:creationId xmlns:a16="http://schemas.microsoft.com/office/drawing/2014/main" id="{3329E3A7-EF2F-479F-AED7-BFA2327D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125730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업무가 없으면 운영월·선정 확정·담당 AI 배정을 확인합니다.</a:t>
            </a:r>
          </a:p>
          <a:p xmlns:a="http://schemas.openxmlformats.org/drawingml/2006/main">
            <a: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입력할 수 없으면 관리자에게 해당 단계의 진행 여부를 확인합니다.</a:t>
            </a:r>
          </a:p>
          <a:p xmlns:a="http://schemas.openxmlformats.org/drawingml/2006/main">
            <a:pPr>
              <a:buNone/>
              <a:def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>
                <a:solidFill>
                  <a:srgbClr val="152B41"/>
                </a:solidFill>
                <a:latin typeface="Malgun Gothic"/>
                <a:ea typeface="Malgun Gothic"/>
                <a:cs typeface="Malgun Gothic"/>
              </a:rPr>
              <a:t>결과 변경 후 재확인 필요가 뜨면 평가를 다시 확인합니다.</a:t>
            </a:r>
          </a:p>
        </p:txBody>
      </p:sp>
      <p:sp>
        <p:nvSpPr>
          <p:cNvPr id="7" name="text-89">
            <a:extLst xmlns:a="http://schemas.openxmlformats.org/drawingml/2006/main">
              <a:ext uri="{FF2B5EF4-FFF2-40B4-BE49-F238E27FC236}">
                <a16:creationId xmlns:a16="http://schemas.microsoft.com/office/drawing/2014/main" id="{4D30EF19-EF0E-4E1D-9AF2-6BCFDF08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677025"/>
            <a:ext cx="1257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defPPr>
            <a:lvl1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1pPr>
            <a:lvl2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2pPr>
            <a:lvl3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3pPr>
            <a:lvl4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4pPr>
            <a:lvl5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5pPr>
            <a:lvl6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6pPr>
            <a:lvl7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7pPr>
            <a:lvl8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8pPr>
            <a:lvl9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>
              <a:buNone/>
              <a:def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>
                <a:solidFill>
                  <a:srgbClr val="566A7E"/>
                </a:solidFill>
                <a:latin typeface="Malgun Gothic"/>
                <a:ea typeface="Malgun Gothic"/>
                <a:cs typeface="Malgun Gothic"/>
              </a:rPr>
              <a:t>진행 중에는 제출 목록 수정·평가 수정을 사용할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513569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2026-10-31T10:15:45.8920000Z</dcterms:created>
  <dcterms:modified xsi:type="dcterms:W3CDTF">2026-10-31T10:15:45.8920000Z</dcterms:modified>
</coreProperties>
</file>